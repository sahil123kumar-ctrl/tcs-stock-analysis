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66" r:id="rId3"/>
    <p:sldId id="267" r:id="rId4"/>
    <p:sldId id="268" r:id="rId5"/>
    <p:sldId id="269" r:id="rId6"/>
    <p:sldId id="257" r:id="rId7"/>
    <p:sldId id="258" r:id="rId8"/>
    <p:sldId id="259" r:id="rId9"/>
    <p:sldId id="260" r:id="rId10"/>
    <p:sldId id="261" r:id="rId11"/>
    <p:sldId id="262" r:id="rId12"/>
    <p:sldId id="263" r:id="rId13"/>
    <p:sldId id="270" r:id="rId14"/>
    <p:sldId id="271" r:id="rId15"/>
    <p:sldId id="272" r:id="rId16"/>
    <p:sldId id="273" r:id="rId17"/>
    <p:sldId id="274" r:id="rId18"/>
    <p:sldId id="275" r:id="rId19"/>
    <p:sldId id="276" r:id="rId20"/>
    <p:sldId id="278" r:id="rId21"/>
    <p:sldId id="279" r:id="rId22"/>
    <p:sldId id="280" r:id="rId23"/>
    <p:sldId id="281" r:id="rId24"/>
    <p:sldId id="282" r:id="rId25"/>
    <p:sldId id="283" r:id="rId26"/>
    <p:sldId id="284" r:id="rId27"/>
    <p:sldId id="285" r:id="rId28"/>
    <p:sldId id="286" r:id="rId29"/>
    <p:sldId id="287" r:id="rId30"/>
    <p:sldId id="289" r:id="rId31"/>
    <p:sldId id="290" r:id="rId32"/>
    <p:sldId id="291" r:id="rId33"/>
    <p:sldId id="292" r:id="rId34"/>
    <p:sldId id="294" r:id="rId35"/>
    <p:sldId id="295" r:id="rId36"/>
    <p:sldId id="296" r:id="rId37"/>
    <p:sldId id="297"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a:srgbClr val="66FF66"/>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87179" autoAdjust="0"/>
  </p:normalViewPr>
  <p:slideViewPr>
    <p:cSldViewPr snapToGrid="0">
      <p:cViewPr varScale="1">
        <p:scale>
          <a:sx n="55" d="100"/>
          <a:sy n="55" d="100"/>
        </p:scale>
        <p:origin x="111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4AE8E9-6B8C-41DF-A33E-2382ECF29AB1}" type="datetimeFigureOut">
              <a:rPr lang="en-IN" smtClean="0"/>
              <a:t>02-11-2025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4F37B5-7354-40D2-8FEE-F825B7C88B5A}" type="slidenum">
              <a:rPr lang="en-IN" smtClean="0"/>
              <a:t>‹#›</a:t>
            </a:fld>
            <a:endParaRPr lang="en-IN"/>
          </a:p>
        </p:txBody>
      </p:sp>
    </p:spTree>
    <p:extLst>
      <p:ext uri="{BB962C8B-B14F-4D97-AF65-F5344CB8AC3E}">
        <p14:creationId xmlns:p14="http://schemas.microsoft.com/office/powerpoint/2010/main" val="375877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D3B009-39DE-49B0-95B0-2FCD0A390E2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83511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3B009-39DE-49B0-95B0-2FCD0A390E2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40645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D3B009-39DE-49B0-95B0-2FCD0A390E2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450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D3B009-39DE-49B0-95B0-2FCD0A390E2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4159258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D3B009-39DE-49B0-95B0-2FCD0A390E2E}" type="datetimeFigureOut">
              <a:rPr lang="en-IN" smtClean="0"/>
              <a:t>02-11-2025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1052679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D3B009-39DE-49B0-95B0-2FCD0A390E2E}"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1608719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D3B009-39DE-49B0-95B0-2FCD0A390E2E}" type="datetimeFigureOut">
              <a:rPr lang="en-IN" smtClean="0"/>
              <a:t>02-11-2025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73534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D3B009-39DE-49B0-95B0-2FCD0A390E2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1074550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D3B009-39DE-49B0-95B0-2FCD0A390E2E}"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2836660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3B009-39DE-49B0-95B0-2FCD0A390E2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3774922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3B009-39DE-49B0-95B0-2FCD0A390E2E}"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8CFA41-6E40-4488-8FB6-F9439B7CB130}" type="slidenum">
              <a:rPr lang="en-IN" smtClean="0"/>
              <a:t>‹#›</a:t>
            </a:fld>
            <a:endParaRPr lang="en-IN"/>
          </a:p>
        </p:txBody>
      </p:sp>
    </p:spTree>
    <p:extLst>
      <p:ext uri="{BB962C8B-B14F-4D97-AF65-F5344CB8AC3E}">
        <p14:creationId xmlns:p14="http://schemas.microsoft.com/office/powerpoint/2010/main" val="1118259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3B009-39DE-49B0-95B0-2FCD0A390E2E}" type="datetimeFigureOut">
              <a:rPr lang="en-IN" smtClean="0"/>
              <a:t>02-11-2025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CFA41-6E40-4488-8FB6-F9439B7CB130}" type="slidenum">
              <a:rPr lang="en-IN" smtClean="0"/>
              <a:t>‹#›</a:t>
            </a:fld>
            <a:endParaRPr lang="en-IN"/>
          </a:p>
        </p:txBody>
      </p:sp>
    </p:spTree>
    <p:extLst>
      <p:ext uri="{BB962C8B-B14F-4D97-AF65-F5344CB8AC3E}">
        <p14:creationId xmlns:p14="http://schemas.microsoft.com/office/powerpoint/2010/main" val="7571702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1C4D-AD4C-14C1-5475-C12DC7D716B1}"/>
              </a:ext>
            </a:extLst>
          </p:cNvPr>
          <p:cNvSpPr>
            <a:spLocks noGrp="1"/>
          </p:cNvSpPr>
          <p:nvPr>
            <p:ph type="ctrTitle"/>
          </p:nvPr>
        </p:nvSpPr>
        <p:spPr>
          <a:xfrm>
            <a:off x="315686" y="598713"/>
            <a:ext cx="11125200" cy="1894115"/>
          </a:xfrm>
        </p:spPr>
        <p:txBody>
          <a:bodyPr>
            <a:normAutofit fontScale="90000"/>
          </a:bodyPr>
          <a:lstStyle/>
          <a:p>
            <a:r>
              <a:rPr lang="en-US" sz="8000" b="1" dirty="0">
                <a:solidFill>
                  <a:srgbClr val="FF0000"/>
                </a:solidFill>
                <a:latin typeface="Comic Sans MS" panose="030F0702030302020204" pitchFamily="66" charset="0"/>
              </a:rPr>
              <a:t>TCS Stock Prices Analysis</a:t>
            </a:r>
            <a:endParaRPr lang="en-IN" sz="8000" b="1" dirty="0">
              <a:solidFill>
                <a:srgbClr val="FF0000"/>
              </a:solidFill>
              <a:latin typeface="Comic Sans MS" panose="030F0702030302020204" pitchFamily="66" charset="0"/>
            </a:endParaRPr>
          </a:p>
        </p:txBody>
      </p:sp>
      <p:sp>
        <p:nvSpPr>
          <p:cNvPr id="3" name="Subtitle 2">
            <a:extLst>
              <a:ext uri="{FF2B5EF4-FFF2-40B4-BE49-F238E27FC236}">
                <a16:creationId xmlns:a16="http://schemas.microsoft.com/office/drawing/2014/main" id="{C6987A4E-D318-D7C7-DF44-CC68921A848F}"/>
              </a:ext>
            </a:extLst>
          </p:cNvPr>
          <p:cNvSpPr>
            <a:spLocks noGrp="1"/>
          </p:cNvSpPr>
          <p:nvPr>
            <p:ph type="subTitle" idx="1"/>
          </p:nvPr>
        </p:nvSpPr>
        <p:spPr>
          <a:xfrm>
            <a:off x="7053943" y="4027714"/>
            <a:ext cx="4887686" cy="1687285"/>
          </a:xfrm>
        </p:spPr>
        <p:txBody>
          <a:bodyPr>
            <a:normAutofit/>
          </a:bodyPr>
          <a:lstStyle/>
          <a:p>
            <a:r>
              <a:rPr lang="en-US" sz="6600" b="1" dirty="0">
                <a:solidFill>
                  <a:srgbClr val="FF0000"/>
                </a:solidFill>
                <a:latin typeface="Comic Sans MS" panose="030F0702030302020204" pitchFamily="66" charset="0"/>
              </a:rPr>
              <a:t>By Sahil</a:t>
            </a:r>
            <a:endParaRPr lang="en-IN" sz="6600" b="1"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795315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45F78-1A28-A2A1-7F08-383CCFEDE3E1}"/>
              </a:ext>
            </a:extLst>
          </p:cNvPr>
          <p:cNvSpPr>
            <a:spLocks noGrp="1"/>
          </p:cNvSpPr>
          <p:nvPr>
            <p:ph type="title"/>
          </p:nvPr>
        </p:nvSpPr>
        <p:spPr>
          <a:xfrm>
            <a:off x="141514" y="119743"/>
            <a:ext cx="5562600" cy="707572"/>
          </a:xfrm>
        </p:spPr>
        <p:txBody>
          <a:bodyPr/>
          <a:lstStyle/>
          <a:p>
            <a:r>
              <a:rPr lang="en-US" b="1" dirty="0">
                <a:solidFill>
                  <a:srgbClr val="FF0000"/>
                </a:solidFill>
                <a:latin typeface="Comic Sans MS" panose="030F0702030302020204" pitchFamily="66" charset="0"/>
              </a:rPr>
              <a:t>INTODUCTION</a:t>
            </a:r>
            <a:endParaRPr lang="en-IN" b="1" dirty="0">
              <a:solidFill>
                <a:srgbClr val="FF0000"/>
              </a:solidFill>
              <a:latin typeface="Comic Sans MS" panose="030F0702030302020204" pitchFamily="66" charset="0"/>
            </a:endParaRPr>
          </a:p>
        </p:txBody>
      </p:sp>
      <p:sp>
        <p:nvSpPr>
          <p:cNvPr id="4" name="Rectangle 1">
            <a:extLst>
              <a:ext uri="{FF2B5EF4-FFF2-40B4-BE49-F238E27FC236}">
                <a16:creationId xmlns:a16="http://schemas.microsoft.com/office/drawing/2014/main" id="{713628F6-A584-8187-17D6-6D9D0AEBDEE4}"/>
              </a:ext>
            </a:extLst>
          </p:cNvPr>
          <p:cNvSpPr>
            <a:spLocks noGrp="1" noChangeArrowheads="1"/>
          </p:cNvSpPr>
          <p:nvPr>
            <p:ph idx="1"/>
          </p:nvPr>
        </p:nvSpPr>
        <p:spPr bwMode="auto">
          <a:xfrm>
            <a:off x="141513" y="711374"/>
            <a:ext cx="11843657"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rgbClr val="00FFFF"/>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Comic Sans MS" panose="030F0702030302020204" pitchFamily="66" charset="0"/>
              </a:rPr>
              <a:t>This report provides a detailed analysis of the stock performance and volatility trends of Tata Consultancy</a:t>
            </a:r>
            <a:r>
              <a:rPr lang="en-US" altLang="en-US" sz="2400" b="1" dirty="0">
                <a:latin typeface="Comic Sans MS" panose="030F0702030302020204" pitchFamily="66" charset="0"/>
              </a:rPr>
              <a:t> </a:t>
            </a:r>
            <a:r>
              <a:rPr kumimoji="0" lang="en-US" altLang="en-US" sz="2400" b="1" i="0" u="none" strike="noStrike" cap="none" normalizeH="0" baseline="0" dirty="0">
                <a:ln>
                  <a:noFill/>
                </a:ln>
                <a:effectLst/>
                <a:latin typeface="Comic Sans MS" panose="030F0702030302020204" pitchFamily="66" charset="0"/>
              </a:rPr>
              <a:t>Services (TCS) over the period from 2002 to 2021.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Comic Sans MS" panose="030F0702030302020204" pitchFamily="66" charset="0"/>
              </a:rPr>
              <a:t>Using Python for data cleaning, exploration, and visualization, the study captures trends in price movement, return patterns, volatility classification, and key market events affecting stock behavior.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Comic Sans MS" panose="030F0702030302020204" pitchFamily="66" charset="0"/>
              </a:rPr>
              <a:t>Key findings reveal long-term upward momentum, distinct volatility patterns, and critical periods of continuous rise and decline.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66FF66"/>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sz="2400" b="1" dirty="0">
                <a:solidFill>
                  <a:srgbClr val="66FF66"/>
                </a:solidFill>
                <a:latin typeface="Comic Sans MS" panose="030F0702030302020204" pitchFamily="66" charset="0"/>
              </a:rPr>
              <a:t>The primary goal of this report is to analyze the historical stock price movements and volatility patterns of Tata Consultancy Services (TCS) from 2002 to 2021. As one of India's largest and most influential IT companies, TCS's stock behavior provides valuable insights into market sentiment, investor behavior, and external economic impacts over two decades.</a:t>
            </a:r>
            <a:endParaRPr lang="en-US" altLang="en-US" sz="2400" b="1" dirty="0">
              <a:solidFill>
                <a:srgbClr val="66FF66"/>
              </a:solidFill>
              <a:latin typeface="Comic Sans MS" panose="030F0702030302020204" pitchFamily="66" charset="0"/>
            </a:endParaRPr>
          </a:p>
        </p:txBody>
      </p:sp>
    </p:spTree>
    <p:extLst>
      <p:ext uri="{BB962C8B-B14F-4D97-AF65-F5344CB8AC3E}">
        <p14:creationId xmlns:p14="http://schemas.microsoft.com/office/powerpoint/2010/main" val="2105639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79298-0DED-076A-BB00-C0017B019F72}"/>
              </a:ext>
            </a:extLst>
          </p:cNvPr>
          <p:cNvSpPr>
            <a:spLocks noGrp="1"/>
          </p:cNvSpPr>
          <p:nvPr>
            <p:ph type="title"/>
          </p:nvPr>
        </p:nvSpPr>
        <p:spPr>
          <a:xfrm>
            <a:off x="108857" y="174172"/>
            <a:ext cx="11244943" cy="729342"/>
          </a:xfrm>
        </p:spPr>
        <p:txBody>
          <a:bodyPr/>
          <a:lstStyle/>
          <a:p>
            <a:r>
              <a:rPr lang="en-US" b="1" dirty="0">
                <a:solidFill>
                  <a:srgbClr val="FF0000"/>
                </a:solidFill>
                <a:latin typeface="Comic Sans MS" panose="030F0702030302020204" pitchFamily="66" charset="0"/>
              </a:rPr>
              <a:t>DATASET OVERVIEW:</a:t>
            </a:r>
            <a:endParaRPr lang="en-IN" b="1" dirty="0">
              <a:solidFill>
                <a:srgbClr val="FF0000"/>
              </a:solidFill>
              <a:latin typeface="Comic Sans MS" panose="030F0702030302020204" pitchFamily="66" charset="0"/>
            </a:endParaRPr>
          </a:p>
        </p:txBody>
      </p:sp>
      <p:graphicFrame>
        <p:nvGraphicFramePr>
          <p:cNvPr id="4" name="Content Placeholder 3">
            <a:extLst>
              <a:ext uri="{FF2B5EF4-FFF2-40B4-BE49-F238E27FC236}">
                <a16:creationId xmlns:a16="http://schemas.microsoft.com/office/drawing/2014/main" id="{E56C8929-536A-98B3-C351-D9069D9EFC3C}"/>
              </a:ext>
            </a:extLst>
          </p:cNvPr>
          <p:cNvGraphicFramePr>
            <a:graphicFrameLocks noGrp="1"/>
          </p:cNvGraphicFramePr>
          <p:nvPr>
            <p:ph idx="1"/>
            <p:extLst>
              <p:ext uri="{D42A27DB-BD31-4B8C-83A1-F6EECF244321}">
                <p14:modId xmlns:p14="http://schemas.microsoft.com/office/powerpoint/2010/main" val="2525509847"/>
              </p:ext>
            </p:extLst>
          </p:nvPr>
        </p:nvGraphicFramePr>
        <p:xfrm>
          <a:off x="315686" y="1175657"/>
          <a:ext cx="11658600" cy="5660479"/>
        </p:xfrm>
        <a:graphic>
          <a:graphicData uri="http://schemas.openxmlformats.org/drawingml/2006/table">
            <a:tbl>
              <a:tblPr>
                <a:tableStyleId>{616DA210-FB5B-4158-B5E0-FEB733F419BA}</a:tableStyleId>
              </a:tblPr>
              <a:tblGrid>
                <a:gridCol w="3145971">
                  <a:extLst>
                    <a:ext uri="{9D8B030D-6E8A-4147-A177-3AD203B41FA5}">
                      <a16:colId xmlns:a16="http://schemas.microsoft.com/office/drawing/2014/main" val="2298133036"/>
                    </a:ext>
                  </a:extLst>
                </a:gridCol>
                <a:gridCol w="8512629">
                  <a:extLst>
                    <a:ext uri="{9D8B030D-6E8A-4147-A177-3AD203B41FA5}">
                      <a16:colId xmlns:a16="http://schemas.microsoft.com/office/drawing/2014/main" val="2157796272"/>
                    </a:ext>
                  </a:extLst>
                </a:gridCol>
              </a:tblGrid>
              <a:tr h="905355">
                <a:tc>
                  <a:txBody>
                    <a:bodyPr/>
                    <a:lstStyle/>
                    <a:p>
                      <a:pPr>
                        <a:buNone/>
                      </a:pPr>
                      <a:r>
                        <a:rPr lang="en-IN" sz="2800" b="1" dirty="0">
                          <a:solidFill>
                            <a:srgbClr val="FF0000"/>
                          </a:solidFill>
                          <a:latin typeface="Comic Sans MS" panose="030F0702030302020204" pitchFamily="66" charset="0"/>
                        </a:rPr>
                        <a:t>Column Name</a:t>
                      </a:r>
                    </a:p>
                  </a:txBody>
                  <a:tcPr marL="76339" marR="76339" marT="38170" marB="38170" anchor="ctr"/>
                </a:tc>
                <a:tc>
                  <a:txBody>
                    <a:bodyPr/>
                    <a:lstStyle/>
                    <a:p>
                      <a:pPr>
                        <a:buNone/>
                      </a:pPr>
                      <a:r>
                        <a:rPr lang="en-IN" sz="2800" b="1" dirty="0">
                          <a:solidFill>
                            <a:srgbClr val="FF0000"/>
                          </a:solidFill>
                        </a:rPr>
                        <a:t>Description</a:t>
                      </a:r>
                      <a:endParaRPr lang="en-IN" sz="2800" b="1" dirty="0">
                        <a:solidFill>
                          <a:srgbClr val="FF0000"/>
                        </a:solidFill>
                        <a:latin typeface="Comic Sans MS" panose="030F0702030302020204" pitchFamily="66" charset="0"/>
                      </a:endParaRPr>
                    </a:p>
                  </a:txBody>
                  <a:tcPr marL="76339" marR="76339" marT="38170" marB="38170" anchor="ctr"/>
                </a:tc>
                <a:extLst>
                  <a:ext uri="{0D108BD9-81ED-4DB2-BD59-A6C34878D82A}">
                    <a16:rowId xmlns:a16="http://schemas.microsoft.com/office/drawing/2014/main" val="464882881"/>
                  </a:ext>
                </a:extLst>
              </a:tr>
              <a:tr h="652010">
                <a:tc>
                  <a:txBody>
                    <a:bodyPr/>
                    <a:lstStyle/>
                    <a:p>
                      <a:pPr>
                        <a:buNone/>
                      </a:pPr>
                      <a:r>
                        <a:rPr lang="en-IN" sz="2400" b="1" dirty="0">
                          <a:solidFill>
                            <a:srgbClr val="FF0000"/>
                          </a:solidFill>
                          <a:latin typeface="Comic Sans MS" panose="030F0702030302020204" pitchFamily="66" charset="0"/>
                        </a:rPr>
                        <a:t>Date</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trading date for the stock entry.</a:t>
                      </a:r>
                    </a:p>
                  </a:txBody>
                  <a:tcPr marL="76339" marR="76339" marT="38170" marB="38170" anchor="ctr"/>
                </a:tc>
                <a:extLst>
                  <a:ext uri="{0D108BD9-81ED-4DB2-BD59-A6C34878D82A}">
                    <a16:rowId xmlns:a16="http://schemas.microsoft.com/office/drawing/2014/main" val="2960829031"/>
                  </a:ext>
                </a:extLst>
              </a:tr>
              <a:tr h="569491">
                <a:tc>
                  <a:txBody>
                    <a:bodyPr/>
                    <a:lstStyle/>
                    <a:p>
                      <a:pPr>
                        <a:buNone/>
                      </a:pPr>
                      <a:r>
                        <a:rPr lang="en-IN" sz="2400" b="1" dirty="0">
                          <a:solidFill>
                            <a:srgbClr val="FF0000"/>
                          </a:solidFill>
                          <a:latin typeface="Comic Sans MS" panose="030F0702030302020204" pitchFamily="66" charset="0"/>
                        </a:rPr>
                        <a:t>Open</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price at which the stock started trading at the beginning of the day.</a:t>
                      </a:r>
                    </a:p>
                  </a:txBody>
                  <a:tcPr marL="76339" marR="76339" marT="38170" marB="38170" anchor="ctr"/>
                </a:tc>
                <a:extLst>
                  <a:ext uri="{0D108BD9-81ED-4DB2-BD59-A6C34878D82A}">
                    <a16:rowId xmlns:a16="http://schemas.microsoft.com/office/drawing/2014/main" val="4080183283"/>
                  </a:ext>
                </a:extLst>
              </a:tr>
              <a:tr h="569491">
                <a:tc>
                  <a:txBody>
                    <a:bodyPr/>
                    <a:lstStyle/>
                    <a:p>
                      <a:pPr>
                        <a:buNone/>
                      </a:pPr>
                      <a:r>
                        <a:rPr lang="en-IN" sz="2400" b="1" dirty="0">
                          <a:solidFill>
                            <a:srgbClr val="FF0000"/>
                          </a:solidFill>
                          <a:latin typeface="Comic Sans MS" panose="030F0702030302020204" pitchFamily="66" charset="0"/>
                        </a:rPr>
                        <a:t>High</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highest price reached by the stock during that day.</a:t>
                      </a:r>
                    </a:p>
                  </a:txBody>
                  <a:tcPr marL="76339" marR="76339" marT="38170" marB="38170" anchor="ctr"/>
                </a:tc>
                <a:extLst>
                  <a:ext uri="{0D108BD9-81ED-4DB2-BD59-A6C34878D82A}">
                    <a16:rowId xmlns:a16="http://schemas.microsoft.com/office/drawing/2014/main" val="3518807032"/>
                  </a:ext>
                </a:extLst>
              </a:tr>
              <a:tr h="430486">
                <a:tc>
                  <a:txBody>
                    <a:bodyPr/>
                    <a:lstStyle/>
                    <a:p>
                      <a:pPr>
                        <a:buNone/>
                      </a:pPr>
                      <a:r>
                        <a:rPr lang="en-IN" sz="2400" b="1" dirty="0">
                          <a:solidFill>
                            <a:srgbClr val="FF0000"/>
                          </a:solidFill>
                          <a:latin typeface="Comic Sans MS" panose="030F0702030302020204" pitchFamily="66" charset="0"/>
                        </a:rPr>
                        <a:t>Low</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lowest price reached during the trading day.</a:t>
                      </a:r>
                    </a:p>
                  </a:txBody>
                  <a:tcPr marL="76339" marR="76339" marT="38170" marB="38170" anchor="ctr"/>
                </a:tc>
                <a:extLst>
                  <a:ext uri="{0D108BD9-81ED-4DB2-BD59-A6C34878D82A}">
                    <a16:rowId xmlns:a16="http://schemas.microsoft.com/office/drawing/2014/main" val="659652007"/>
                  </a:ext>
                </a:extLst>
              </a:tr>
              <a:tr h="569491">
                <a:tc>
                  <a:txBody>
                    <a:bodyPr/>
                    <a:lstStyle/>
                    <a:p>
                      <a:pPr>
                        <a:buNone/>
                      </a:pPr>
                      <a:r>
                        <a:rPr lang="en-IN" sz="2400" b="1" dirty="0">
                          <a:solidFill>
                            <a:srgbClr val="FF0000"/>
                          </a:solidFill>
                          <a:latin typeface="Comic Sans MS" panose="030F0702030302020204" pitchFamily="66" charset="0"/>
                        </a:rPr>
                        <a:t>Close</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price of the stock at the end of the trading day. Often used for analysis.</a:t>
                      </a:r>
                    </a:p>
                  </a:txBody>
                  <a:tcPr marL="76339" marR="76339" marT="38170" marB="38170" anchor="ctr"/>
                </a:tc>
                <a:extLst>
                  <a:ext uri="{0D108BD9-81ED-4DB2-BD59-A6C34878D82A}">
                    <a16:rowId xmlns:a16="http://schemas.microsoft.com/office/drawing/2014/main" val="1706083998"/>
                  </a:ext>
                </a:extLst>
              </a:tr>
              <a:tr h="569491">
                <a:tc>
                  <a:txBody>
                    <a:bodyPr/>
                    <a:lstStyle/>
                    <a:p>
                      <a:pPr>
                        <a:buNone/>
                      </a:pPr>
                      <a:r>
                        <a:rPr lang="en-IN" sz="2400" b="1" dirty="0">
                          <a:solidFill>
                            <a:srgbClr val="FF0000"/>
                          </a:solidFill>
                          <a:latin typeface="Comic Sans MS" panose="030F0702030302020204" pitchFamily="66" charset="0"/>
                        </a:rPr>
                        <a:t>Volume</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total number of shares traded on that day. Indicates market activity.</a:t>
                      </a:r>
                    </a:p>
                  </a:txBody>
                  <a:tcPr marL="76339" marR="76339" marT="38170" marB="38170" anchor="ctr"/>
                </a:tc>
                <a:extLst>
                  <a:ext uri="{0D108BD9-81ED-4DB2-BD59-A6C34878D82A}">
                    <a16:rowId xmlns:a16="http://schemas.microsoft.com/office/drawing/2014/main" val="3945017091"/>
                  </a:ext>
                </a:extLst>
              </a:tr>
              <a:tr h="569491">
                <a:tc>
                  <a:txBody>
                    <a:bodyPr/>
                    <a:lstStyle/>
                    <a:p>
                      <a:pPr>
                        <a:buNone/>
                      </a:pPr>
                      <a:r>
                        <a:rPr lang="en-IN" sz="2400" b="1" dirty="0">
                          <a:solidFill>
                            <a:srgbClr val="FF0000"/>
                          </a:solidFill>
                          <a:latin typeface="Comic Sans MS" panose="030F0702030302020204" pitchFamily="66" charset="0"/>
                        </a:rPr>
                        <a:t>Dividends</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The cash payments made by TCS to its shareholders on that date, if any.</a:t>
                      </a:r>
                    </a:p>
                  </a:txBody>
                  <a:tcPr marL="76339" marR="76339" marT="38170" marB="38170" anchor="ctr"/>
                </a:tc>
                <a:extLst>
                  <a:ext uri="{0D108BD9-81ED-4DB2-BD59-A6C34878D82A}">
                    <a16:rowId xmlns:a16="http://schemas.microsoft.com/office/drawing/2014/main" val="1705400349"/>
                  </a:ext>
                </a:extLst>
              </a:tr>
              <a:tr h="813559">
                <a:tc>
                  <a:txBody>
                    <a:bodyPr/>
                    <a:lstStyle/>
                    <a:p>
                      <a:pPr>
                        <a:buNone/>
                      </a:pPr>
                      <a:r>
                        <a:rPr lang="en-IN" sz="2400" b="1" dirty="0">
                          <a:solidFill>
                            <a:srgbClr val="FF0000"/>
                          </a:solidFill>
                          <a:latin typeface="Comic Sans MS" panose="030F0702030302020204" pitchFamily="66" charset="0"/>
                        </a:rPr>
                        <a:t>Stock Splits</a:t>
                      </a:r>
                      <a:endParaRPr lang="en-IN" sz="2400" dirty="0">
                        <a:solidFill>
                          <a:srgbClr val="FF0000"/>
                        </a:solidFill>
                        <a:latin typeface="Comic Sans MS" panose="030F0702030302020204" pitchFamily="66" charset="0"/>
                      </a:endParaRPr>
                    </a:p>
                  </a:txBody>
                  <a:tcPr marL="76339" marR="76339" marT="38170" marB="38170" anchor="ctr"/>
                </a:tc>
                <a:tc>
                  <a:txBody>
                    <a:bodyPr/>
                    <a:lstStyle/>
                    <a:p>
                      <a:pPr>
                        <a:buNone/>
                      </a:pPr>
                      <a:r>
                        <a:rPr lang="en-US" sz="1800" dirty="0">
                          <a:solidFill>
                            <a:schemeClr val="tx1"/>
                          </a:solidFill>
                          <a:latin typeface="Comic Sans MS" panose="030F0702030302020204" pitchFamily="66" charset="0"/>
                        </a:rPr>
                        <a:t>Indicates if a stock split occurred on that day. A split increases the number of shares while reducing the price proportionally.</a:t>
                      </a:r>
                    </a:p>
                  </a:txBody>
                  <a:tcPr marL="76339" marR="76339" marT="38170" marB="38170" anchor="ctr"/>
                </a:tc>
                <a:extLst>
                  <a:ext uri="{0D108BD9-81ED-4DB2-BD59-A6C34878D82A}">
                    <a16:rowId xmlns:a16="http://schemas.microsoft.com/office/drawing/2014/main" val="2498766648"/>
                  </a:ext>
                </a:extLst>
              </a:tr>
            </a:tbl>
          </a:graphicData>
        </a:graphic>
      </p:graphicFrame>
    </p:spTree>
    <p:extLst>
      <p:ext uri="{BB962C8B-B14F-4D97-AF65-F5344CB8AC3E}">
        <p14:creationId xmlns:p14="http://schemas.microsoft.com/office/powerpoint/2010/main" val="2349043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9B7D0-0626-9158-770C-2FB4DAF4CEC5}"/>
              </a:ext>
            </a:extLst>
          </p:cNvPr>
          <p:cNvSpPr>
            <a:spLocks noGrp="1"/>
          </p:cNvSpPr>
          <p:nvPr>
            <p:ph type="title"/>
          </p:nvPr>
        </p:nvSpPr>
        <p:spPr>
          <a:xfrm>
            <a:off x="348343" y="228600"/>
            <a:ext cx="11005457" cy="566057"/>
          </a:xfrm>
        </p:spPr>
        <p:txBody>
          <a:bodyPr>
            <a:normAutofit fontScale="90000"/>
          </a:bodyPr>
          <a:lstStyle/>
          <a:p>
            <a:r>
              <a:rPr lang="en-IN" dirty="0"/>
              <a:t>📌 </a:t>
            </a:r>
            <a:r>
              <a:rPr lang="en-IN" b="1" dirty="0">
                <a:solidFill>
                  <a:srgbClr val="FF0000"/>
                </a:solidFill>
                <a:latin typeface="Comic Sans MS" panose="030F0702030302020204" pitchFamily="66" charset="0"/>
              </a:rPr>
              <a:t>Data Preprocessing Steps</a:t>
            </a:r>
          </a:p>
        </p:txBody>
      </p:sp>
      <p:graphicFrame>
        <p:nvGraphicFramePr>
          <p:cNvPr id="4" name="Content Placeholder 3">
            <a:extLst>
              <a:ext uri="{FF2B5EF4-FFF2-40B4-BE49-F238E27FC236}">
                <a16:creationId xmlns:a16="http://schemas.microsoft.com/office/drawing/2014/main" id="{94C68BC7-2BE4-1299-6C1B-28C85C1D004C}"/>
              </a:ext>
            </a:extLst>
          </p:cNvPr>
          <p:cNvGraphicFramePr>
            <a:graphicFrameLocks noGrp="1"/>
          </p:cNvGraphicFramePr>
          <p:nvPr>
            <p:ph idx="1"/>
            <p:extLst>
              <p:ext uri="{D42A27DB-BD31-4B8C-83A1-F6EECF244321}">
                <p14:modId xmlns:p14="http://schemas.microsoft.com/office/powerpoint/2010/main" val="809109050"/>
              </p:ext>
            </p:extLst>
          </p:nvPr>
        </p:nvGraphicFramePr>
        <p:xfrm>
          <a:off x="141515" y="956837"/>
          <a:ext cx="11876313" cy="5909170"/>
        </p:xfrm>
        <a:graphic>
          <a:graphicData uri="http://schemas.openxmlformats.org/drawingml/2006/table">
            <a:tbl>
              <a:tblPr>
                <a:tableStyleId>{616DA210-FB5B-4158-B5E0-FEB733F419BA}</a:tableStyleId>
              </a:tblPr>
              <a:tblGrid>
                <a:gridCol w="1665514">
                  <a:extLst>
                    <a:ext uri="{9D8B030D-6E8A-4147-A177-3AD203B41FA5}">
                      <a16:colId xmlns:a16="http://schemas.microsoft.com/office/drawing/2014/main" val="1870598699"/>
                    </a:ext>
                  </a:extLst>
                </a:gridCol>
                <a:gridCol w="3276600">
                  <a:extLst>
                    <a:ext uri="{9D8B030D-6E8A-4147-A177-3AD203B41FA5}">
                      <a16:colId xmlns:a16="http://schemas.microsoft.com/office/drawing/2014/main" val="1462274636"/>
                    </a:ext>
                  </a:extLst>
                </a:gridCol>
                <a:gridCol w="6934199">
                  <a:extLst>
                    <a:ext uri="{9D8B030D-6E8A-4147-A177-3AD203B41FA5}">
                      <a16:colId xmlns:a16="http://schemas.microsoft.com/office/drawing/2014/main" val="2453320805"/>
                    </a:ext>
                  </a:extLst>
                </a:gridCol>
              </a:tblGrid>
              <a:tr h="484500">
                <a:tc>
                  <a:txBody>
                    <a:bodyPr/>
                    <a:lstStyle/>
                    <a:p>
                      <a:pPr>
                        <a:buNone/>
                      </a:pPr>
                      <a:r>
                        <a:rPr lang="en-IN" sz="2400" b="1" dirty="0">
                          <a:solidFill>
                            <a:srgbClr val="FF0000"/>
                          </a:solidFill>
                          <a:latin typeface="Comic Sans MS" panose="030F0702030302020204" pitchFamily="66" charset="0"/>
                        </a:rPr>
                        <a:t>Step No.</a:t>
                      </a:r>
                    </a:p>
                  </a:txBody>
                  <a:tcPr marL="59680" marR="59680" marT="29840" marB="29840" anchor="ctr"/>
                </a:tc>
                <a:tc>
                  <a:txBody>
                    <a:bodyPr/>
                    <a:lstStyle/>
                    <a:p>
                      <a:pPr>
                        <a:buNone/>
                      </a:pPr>
                      <a:r>
                        <a:rPr lang="en-IN" sz="2400" b="1" dirty="0">
                          <a:solidFill>
                            <a:srgbClr val="FF0000"/>
                          </a:solidFill>
                          <a:latin typeface="Comic Sans MS" panose="030F0702030302020204" pitchFamily="66" charset="0"/>
                        </a:rPr>
                        <a:t>    Title</a:t>
                      </a:r>
                    </a:p>
                  </a:txBody>
                  <a:tcPr marL="59680" marR="59680" marT="29840" marB="29840" anchor="ctr"/>
                </a:tc>
                <a:tc>
                  <a:txBody>
                    <a:bodyPr/>
                    <a:lstStyle/>
                    <a:p>
                      <a:pPr>
                        <a:buNone/>
                      </a:pPr>
                      <a:r>
                        <a:rPr lang="en-IN" sz="2400" b="1" dirty="0">
                          <a:solidFill>
                            <a:srgbClr val="FF0000"/>
                          </a:solidFill>
                        </a:rPr>
                        <a:t>Description</a:t>
                      </a:r>
                      <a:endParaRPr lang="en-IN" sz="2400" b="1" dirty="0">
                        <a:solidFill>
                          <a:srgbClr val="FF0000"/>
                        </a:solidFill>
                        <a:latin typeface="Comic Sans MS" panose="030F0702030302020204" pitchFamily="66" charset="0"/>
                      </a:endParaRPr>
                    </a:p>
                  </a:txBody>
                  <a:tcPr marL="59680" marR="59680" marT="29840" marB="29840" anchor="ctr"/>
                </a:tc>
                <a:extLst>
                  <a:ext uri="{0D108BD9-81ED-4DB2-BD59-A6C34878D82A}">
                    <a16:rowId xmlns:a16="http://schemas.microsoft.com/office/drawing/2014/main" val="513641773"/>
                  </a:ext>
                </a:extLst>
              </a:tr>
              <a:tr h="762515">
                <a:tc>
                  <a:txBody>
                    <a:bodyPr/>
                    <a:lstStyle/>
                    <a:p>
                      <a:pPr>
                        <a:buNone/>
                      </a:pPr>
                      <a:r>
                        <a:rPr lang="en-IN" sz="2000" dirty="0">
                          <a:solidFill>
                            <a:srgbClr val="FF0000"/>
                          </a:solidFill>
                          <a:latin typeface="Comic Sans MS" panose="030F0702030302020204" pitchFamily="66" charset="0"/>
                        </a:rPr>
                        <a:t>1</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Importing Necessary Libraries</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Imported essential libraries such as pandas, </a:t>
                      </a:r>
                      <a:r>
                        <a:rPr lang="en-US" sz="1600" dirty="0" err="1">
                          <a:solidFill>
                            <a:schemeClr val="tx1"/>
                          </a:solidFill>
                          <a:latin typeface="Comic Sans MS" panose="030F0702030302020204" pitchFamily="66" charset="0"/>
                        </a:rPr>
                        <a:t>numpy</a:t>
                      </a:r>
                      <a:r>
                        <a:rPr lang="en-US" sz="1600" dirty="0">
                          <a:solidFill>
                            <a:schemeClr val="tx1"/>
                          </a:solidFill>
                          <a:latin typeface="Comic Sans MS" panose="030F0702030302020204" pitchFamily="66" charset="0"/>
                        </a:rPr>
                        <a:t>, </a:t>
                      </a:r>
                      <a:r>
                        <a:rPr lang="en-US" sz="1600" dirty="0" err="1">
                          <a:solidFill>
                            <a:schemeClr val="tx1"/>
                          </a:solidFill>
                          <a:latin typeface="Comic Sans MS" panose="030F0702030302020204" pitchFamily="66" charset="0"/>
                        </a:rPr>
                        <a:t>matplotlib.pyplot</a:t>
                      </a:r>
                      <a:r>
                        <a:rPr lang="en-US" sz="1600" dirty="0">
                          <a:solidFill>
                            <a:schemeClr val="tx1"/>
                          </a:solidFill>
                          <a:latin typeface="Comic Sans MS" panose="030F0702030302020204" pitchFamily="66" charset="0"/>
                        </a:rPr>
                        <a:t>, and seaborn for data manipulation and visualization.</a:t>
                      </a:r>
                    </a:p>
                  </a:txBody>
                  <a:tcPr marL="59680" marR="59680" marT="29840" marB="29840" anchor="ctr"/>
                </a:tc>
                <a:extLst>
                  <a:ext uri="{0D108BD9-81ED-4DB2-BD59-A6C34878D82A}">
                    <a16:rowId xmlns:a16="http://schemas.microsoft.com/office/drawing/2014/main" val="2373093086"/>
                  </a:ext>
                </a:extLst>
              </a:tr>
              <a:tr h="678231">
                <a:tc>
                  <a:txBody>
                    <a:bodyPr/>
                    <a:lstStyle/>
                    <a:p>
                      <a:pPr>
                        <a:buNone/>
                      </a:pPr>
                      <a:r>
                        <a:rPr lang="en-IN" sz="2000" dirty="0">
                          <a:solidFill>
                            <a:srgbClr val="FF0000"/>
                          </a:solidFill>
                          <a:latin typeface="Comic Sans MS" panose="030F0702030302020204" pitchFamily="66" charset="0"/>
                        </a:rPr>
                        <a:t>2</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Loading and Reading Data</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Loaded the TCS stock data using </a:t>
                      </a:r>
                      <a:r>
                        <a:rPr lang="en-US" sz="1600" dirty="0" err="1">
                          <a:solidFill>
                            <a:schemeClr val="tx1"/>
                          </a:solidFill>
                          <a:latin typeface="Comic Sans MS" panose="030F0702030302020204" pitchFamily="66" charset="0"/>
                        </a:rPr>
                        <a:t>pd.read_csv</a:t>
                      </a:r>
                      <a:r>
                        <a:rPr lang="en-US" sz="1600" dirty="0">
                          <a:solidFill>
                            <a:schemeClr val="tx1"/>
                          </a:solidFill>
                          <a:latin typeface="Comic Sans MS" panose="030F0702030302020204" pitchFamily="66" charset="0"/>
                        </a:rPr>
                        <a:t>() or a similar function to read the dataset.</a:t>
                      </a:r>
                    </a:p>
                  </a:txBody>
                  <a:tcPr marL="59680" marR="59680" marT="29840" marB="29840" anchor="ctr"/>
                </a:tc>
                <a:extLst>
                  <a:ext uri="{0D108BD9-81ED-4DB2-BD59-A6C34878D82A}">
                    <a16:rowId xmlns:a16="http://schemas.microsoft.com/office/drawing/2014/main" val="1979384208"/>
                  </a:ext>
                </a:extLst>
              </a:tr>
              <a:tr h="586549">
                <a:tc>
                  <a:txBody>
                    <a:bodyPr/>
                    <a:lstStyle/>
                    <a:p>
                      <a:pPr>
                        <a:buNone/>
                      </a:pPr>
                      <a:r>
                        <a:rPr lang="en-IN" sz="2000" dirty="0">
                          <a:solidFill>
                            <a:srgbClr val="FF0000"/>
                          </a:solidFill>
                          <a:latin typeface="Comic Sans MS" panose="030F0702030302020204" pitchFamily="66" charset="0"/>
                        </a:rPr>
                        <a:t>3</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Columns Overview</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Displayed the list of all available columns to understand what information is present.</a:t>
                      </a:r>
                    </a:p>
                  </a:txBody>
                  <a:tcPr marL="59680" marR="59680" marT="29840" marB="29840" anchor="ctr"/>
                </a:tc>
                <a:extLst>
                  <a:ext uri="{0D108BD9-81ED-4DB2-BD59-A6C34878D82A}">
                    <a16:rowId xmlns:a16="http://schemas.microsoft.com/office/drawing/2014/main" val="2902322868"/>
                  </a:ext>
                </a:extLst>
              </a:tr>
              <a:tr h="479997">
                <a:tc>
                  <a:txBody>
                    <a:bodyPr/>
                    <a:lstStyle/>
                    <a:p>
                      <a:pPr>
                        <a:buNone/>
                      </a:pPr>
                      <a:r>
                        <a:rPr lang="en-IN" sz="2000">
                          <a:solidFill>
                            <a:srgbClr val="FF0000"/>
                          </a:solidFill>
                          <a:latin typeface="Comic Sans MS" panose="030F0702030302020204" pitchFamily="66" charset="0"/>
                        </a:rPr>
                        <a:t>4</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Data Shape</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Checked the number of rows and columns using .shape.</a:t>
                      </a:r>
                    </a:p>
                  </a:txBody>
                  <a:tcPr marL="59680" marR="59680" marT="29840" marB="29840" anchor="ctr"/>
                </a:tc>
                <a:extLst>
                  <a:ext uri="{0D108BD9-81ED-4DB2-BD59-A6C34878D82A}">
                    <a16:rowId xmlns:a16="http://schemas.microsoft.com/office/drawing/2014/main" val="4115502062"/>
                  </a:ext>
                </a:extLst>
              </a:tr>
              <a:tr h="479997">
                <a:tc>
                  <a:txBody>
                    <a:bodyPr/>
                    <a:lstStyle/>
                    <a:p>
                      <a:pPr>
                        <a:buNone/>
                      </a:pPr>
                      <a:r>
                        <a:rPr lang="en-IN" sz="2000">
                          <a:solidFill>
                            <a:srgbClr val="FF0000"/>
                          </a:solidFill>
                          <a:latin typeface="Comic Sans MS" panose="030F0702030302020204" pitchFamily="66" charset="0"/>
                        </a:rPr>
                        <a:t>5</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Data Types</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Used .</a:t>
                      </a:r>
                      <a:r>
                        <a:rPr lang="en-US" sz="1600" dirty="0" err="1">
                          <a:solidFill>
                            <a:schemeClr val="tx1"/>
                          </a:solidFill>
                          <a:latin typeface="Comic Sans MS" panose="030F0702030302020204" pitchFamily="66" charset="0"/>
                        </a:rPr>
                        <a:t>dtypes</a:t>
                      </a:r>
                      <a:r>
                        <a:rPr lang="en-US" sz="1600" dirty="0">
                          <a:solidFill>
                            <a:schemeClr val="tx1"/>
                          </a:solidFill>
                          <a:latin typeface="Comic Sans MS" panose="030F0702030302020204" pitchFamily="66" charset="0"/>
                        </a:rPr>
                        <a:t> to inspect the data types of each column.</a:t>
                      </a:r>
                    </a:p>
                  </a:txBody>
                  <a:tcPr marL="59680" marR="59680" marT="29840" marB="29840" anchor="ctr"/>
                </a:tc>
                <a:extLst>
                  <a:ext uri="{0D108BD9-81ED-4DB2-BD59-A6C34878D82A}">
                    <a16:rowId xmlns:a16="http://schemas.microsoft.com/office/drawing/2014/main" val="1840444496"/>
                  </a:ext>
                </a:extLst>
              </a:tr>
              <a:tr h="600312">
                <a:tc>
                  <a:txBody>
                    <a:bodyPr/>
                    <a:lstStyle/>
                    <a:p>
                      <a:pPr>
                        <a:buNone/>
                      </a:pPr>
                      <a:r>
                        <a:rPr lang="en-IN" sz="2000">
                          <a:solidFill>
                            <a:srgbClr val="FF0000"/>
                          </a:solidFill>
                          <a:latin typeface="Comic Sans MS" panose="030F0702030302020204" pitchFamily="66" charset="0"/>
                        </a:rPr>
                        <a:t>—</a:t>
                      </a:r>
                    </a:p>
                  </a:txBody>
                  <a:tcPr marL="59680" marR="59680" marT="29840" marB="29840" anchor="ctr"/>
                </a:tc>
                <a:tc>
                  <a:txBody>
                    <a:bodyPr/>
                    <a:lstStyle/>
                    <a:p>
                      <a:pPr>
                        <a:buNone/>
                      </a:pPr>
                      <a:r>
                        <a:rPr lang="en-US" sz="1800" b="1" dirty="0">
                          <a:solidFill>
                            <a:srgbClr val="FF0000"/>
                          </a:solidFill>
                          <a:latin typeface="Comic Sans MS" panose="030F0702030302020204" pitchFamily="66" charset="0"/>
                        </a:rPr>
                        <a:t>Changing Data Type of Date Column</a:t>
                      </a:r>
                      <a:endParaRPr lang="en-US"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Converted the Date column from object type to datetime using </a:t>
                      </a:r>
                      <a:r>
                        <a:rPr lang="en-US" sz="1600" dirty="0" err="1">
                          <a:solidFill>
                            <a:schemeClr val="tx1"/>
                          </a:solidFill>
                          <a:latin typeface="Comic Sans MS" panose="030F0702030302020204" pitchFamily="66" charset="0"/>
                        </a:rPr>
                        <a:t>pd.to_datetime</a:t>
                      </a:r>
                      <a:r>
                        <a:rPr lang="en-US" sz="1600" dirty="0">
                          <a:solidFill>
                            <a:schemeClr val="tx1"/>
                          </a:solidFill>
                          <a:latin typeface="Comic Sans MS" panose="030F0702030302020204" pitchFamily="66" charset="0"/>
                        </a:rPr>
                        <a:t>().</a:t>
                      </a:r>
                    </a:p>
                  </a:txBody>
                  <a:tcPr marL="59680" marR="59680" marT="29840" marB="29840" anchor="ctr"/>
                </a:tc>
                <a:extLst>
                  <a:ext uri="{0D108BD9-81ED-4DB2-BD59-A6C34878D82A}">
                    <a16:rowId xmlns:a16="http://schemas.microsoft.com/office/drawing/2014/main" val="1157317773"/>
                  </a:ext>
                </a:extLst>
              </a:tr>
              <a:tr h="479997">
                <a:tc>
                  <a:txBody>
                    <a:bodyPr/>
                    <a:lstStyle/>
                    <a:p>
                      <a:pPr>
                        <a:buNone/>
                      </a:pPr>
                      <a:r>
                        <a:rPr lang="en-IN" sz="2000">
                          <a:solidFill>
                            <a:srgbClr val="FF0000"/>
                          </a:solidFill>
                          <a:latin typeface="Comic Sans MS" panose="030F0702030302020204" pitchFamily="66" charset="0"/>
                        </a:rPr>
                        <a:t>6</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Checking Null Values</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Verified missing values in each column using .</a:t>
                      </a:r>
                      <a:r>
                        <a:rPr lang="en-US" sz="1600" dirty="0" err="1">
                          <a:solidFill>
                            <a:schemeClr val="tx1"/>
                          </a:solidFill>
                          <a:latin typeface="Comic Sans MS" panose="030F0702030302020204" pitchFamily="66" charset="0"/>
                        </a:rPr>
                        <a:t>isnull</a:t>
                      </a:r>
                      <a:r>
                        <a:rPr lang="en-US" sz="1600" dirty="0">
                          <a:solidFill>
                            <a:schemeClr val="tx1"/>
                          </a:solidFill>
                          <a:latin typeface="Comic Sans MS" panose="030F0702030302020204" pitchFamily="66" charset="0"/>
                        </a:rPr>
                        <a:t>().sum().</a:t>
                      </a:r>
                    </a:p>
                  </a:txBody>
                  <a:tcPr marL="59680" marR="59680" marT="29840" marB="29840" anchor="ctr"/>
                </a:tc>
                <a:extLst>
                  <a:ext uri="{0D108BD9-81ED-4DB2-BD59-A6C34878D82A}">
                    <a16:rowId xmlns:a16="http://schemas.microsoft.com/office/drawing/2014/main" val="1360573657"/>
                  </a:ext>
                </a:extLst>
              </a:tr>
              <a:tr h="586549">
                <a:tc>
                  <a:txBody>
                    <a:bodyPr/>
                    <a:lstStyle/>
                    <a:p>
                      <a:pPr>
                        <a:buNone/>
                      </a:pPr>
                      <a:r>
                        <a:rPr lang="en-IN" sz="2000">
                          <a:solidFill>
                            <a:srgbClr val="FF0000"/>
                          </a:solidFill>
                          <a:latin typeface="Comic Sans MS" panose="030F0702030302020204" pitchFamily="66" charset="0"/>
                        </a:rPr>
                        <a:t>6</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Drop Duplicates</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Removed any duplicate rows using .</a:t>
                      </a:r>
                      <a:r>
                        <a:rPr lang="en-US" sz="1600" dirty="0" err="1">
                          <a:solidFill>
                            <a:schemeClr val="tx1"/>
                          </a:solidFill>
                          <a:latin typeface="Comic Sans MS" panose="030F0702030302020204" pitchFamily="66" charset="0"/>
                        </a:rPr>
                        <a:t>drop_duplicates</a:t>
                      </a:r>
                      <a:r>
                        <a:rPr lang="en-US" sz="1600" dirty="0">
                          <a:solidFill>
                            <a:schemeClr val="tx1"/>
                          </a:solidFill>
                          <a:latin typeface="Comic Sans MS" panose="030F0702030302020204" pitchFamily="66" charset="0"/>
                        </a:rPr>
                        <a:t>() to maintain data integrity.</a:t>
                      </a:r>
                    </a:p>
                  </a:txBody>
                  <a:tcPr marL="59680" marR="59680" marT="29840" marB="29840" anchor="ctr"/>
                </a:tc>
                <a:extLst>
                  <a:ext uri="{0D108BD9-81ED-4DB2-BD59-A6C34878D82A}">
                    <a16:rowId xmlns:a16="http://schemas.microsoft.com/office/drawing/2014/main" val="738863693"/>
                  </a:ext>
                </a:extLst>
              </a:tr>
              <a:tr h="762515">
                <a:tc>
                  <a:txBody>
                    <a:bodyPr/>
                    <a:lstStyle/>
                    <a:p>
                      <a:pPr>
                        <a:buNone/>
                      </a:pPr>
                      <a:r>
                        <a:rPr lang="en-IN" sz="2000" dirty="0">
                          <a:solidFill>
                            <a:srgbClr val="FF0000"/>
                          </a:solidFill>
                          <a:latin typeface="Comic Sans MS" panose="030F0702030302020204" pitchFamily="66" charset="0"/>
                        </a:rPr>
                        <a:t>7</a:t>
                      </a:r>
                    </a:p>
                  </a:txBody>
                  <a:tcPr marL="59680" marR="59680" marT="29840" marB="29840" anchor="ctr"/>
                </a:tc>
                <a:tc>
                  <a:txBody>
                    <a:bodyPr/>
                    <a:lstStyle/>
                    <a:p>
                      <a:pPr>
                        <a:buNone/>
                      </a:pPr>
                      <a:r>
                        <a:rPr lang="en-IN" sz="1800" b="1" dirty="0">
                          <a:solidFill>
                            <a:srgbClr val="FF0000"/>
                          </a:solidFill>
                          <a:latin typeface="Comic Sans MS" panose="030F0702030302020204" pitchFamily="66" charset="0"/>
                        </a:rPr>
                        <a:t>Statistical Summary</a:t>
                      </a:r>
                      <a:endParaRPr lang="en-IN" sz="1800" dirty="0">
                        <a:solidFill>
                          <a:srgbClr val="FF0000"/>
                        </a:solidFill>
                        <a:latin typeface="Comic Sans MS" panose="030F0702030302020204" pitchFamily="66" charset="0"/>
                      </a:endParaRPr>
                    </a:p>
                  </a:txBody>
                  <a:tcPr marL="59680" marR="59680" marT="29840" marB="29840" anchor="ctr"/>
                </a:tc>
                <a:tc>
                  <a:txBody>
                    <a:bodyPr/>
                    <a:lstStyle/>
                    <a:p>
                      <a:pPr>
                        <a:buNone/>
                      </a:pPr>
                      <a:r>
                        <a:rPr lang="en-US" sz="1600" dirty="0">
                          <a:solidFill>
                            <a:schemeClr val="tx1"/>
                          </a:solidFill>
                          <a:latin typeface="Comic Sans MS" panose="030F0702030302020204" pitchFamily="66" charset="0"/>
                        </a:rPr>
                        <a:t>Used .describe() to get a quick summary of the distribution of numeric columns (mean, median, min, max, etc.).</a:t>
                      </a:r>
                    </a:p>
                  </a:txBody>
                  <a:tcPr marL="59680" marR="59680" marT="29840" marB="29840" anchor="ctr"/>
                </a:tc>
                <a:extLst>
                  <a:ext uri="{0D108BD9-81ED-4DB2-BD59-A6C34878D82A}">
                    <a16:rowId xmlns:a16="http://schemas.microsoft.com/office/drawing/2014/main" val="2787594244"/>
                  </a:ext>
                </a:extLst>
              </a:tr>
            </a:tbl>
          </a:graphicData>
        </a:graphic>
      </p:graphicFrame>
    </p:spTree>
    <p:extLst>
      <p:ext uri="{BB962C8B-B14F-4D97-AF65-F5344CB8AC3E}">
        <p14:creationId xmlns:p14="http://schemas.microsoft.com/office/powerpoint/2010/main" val="337333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EE43-D241-7808-6CE0-842BCF5D7A59}"/>
              </a:ext>
            </a:extLst>
          </p:cNvPr>
          <p:cNvSpPr>
            <a:spLocks noGrp="1"/>
          </p:cNvSpPr>
          <p:nvPr>
            <p:ph type="title"/>
          </p:nvPr>
        </p:nvSpPr>
        <p:spPr>
          <a:xfrm>
            <a:off x="468085" y="141515"/>
            <a:ext cx="11125201" cy="1045028"/>
          </a:xfrm>
        </p:spPr>
        <p:txBody>
          <a:bodyPr/>
          <a:lstStyle/>
          <a:p>
            <a:r>
              <a:rPr lang="en-US" dirty="0">
                <a:solidFill>
                  <a:srgbClr val="FF0000"/>
                </a:solidFill>
                <a:latin typeface="Comic Sans MS" panose="030F0702030302020204" pitchFamily="66" charset="0"/>
              </a:rPr>
              <a:t>EDA (Exploratory Data Analysis)</a:t>
            </a:r>
            <a:endParaRPr lang="en-IN" dirty="0">
              <a:solidFill>
                <a:srgbClr val="FF0000"/>
              </a:solidFill>
              <a:latin typeface="Comic Sans MS" panose="030F0702030302020204" pitchFamily="66" charset="0"/>
            </a:endParaRPr>
          </a:p>
        </p:txBody>
      </p:sp>
      <p:sp>
        <p:nvSpPr>
          <p:cNvPr id="3" name="Content Placeholder 2">
            <a:extLst>
              <a:ext uri="{FF2B5EF4-FFF2-40B4-BE49-F238E27FC236}">
                <a16:creationId xmlns:a16="http://schemas.microsoft.com/office/drawing/2014/main" id="{2B17F3B5-CDB0-D9FA-EDDB-84077D601E12}"/>
              </a:ext>
            </a:extLst>
          </p:cNvPr>
          <p:cNvSpPr>
            <a:spLocks noGrp="1"/>
          </p:cNvSpPr>
          <p:nvPr>
            <p:ph idx="1"/>
          </p:nvPr>
        </p:nvSpPr>
        <p:spPr>
          <a:xfrm>
            <a:off x="315686" y="1436913"/>
            <a:ext cx="11593285" cy="5279571"/>
          </a:xfrm>
        </p:spPr>
        <p:txBody>
          <a:bodyPr>
            <a:normAutofit fontScale="92500" lnSpcReduction="10000"/>
          </a:bodyPr>
          <a:lstStyle/>
          <a:p>
            <a:r>
              <a:rPr lang="en-US" sz="3000" dirty="0">
                <a:latin typeface="Comic Sans MS" panose="030F0702030302020204" pitchFamily="66" charset="0"/>
              </a:rPr>
              <a:t>1.Extracting year , month and day from date for better visualization</a:t>
            </a:r>
          </a:p>
          <a:p>
            <a:r>
              <a:rPr lang="en-US" sz="3000" dirty="0">
                <a:latin typeface="Comic Sans MS" panose="030F0702030302020204" pitchFamily="66" charset="0"/>
              </a:rPr>
              <a:t>And understanding</a:t>
            </a:r>
          </a:p>
          <a:p>
            <a:endParaRPr lang="en-US" dirty="0">
              <a:latin typeface="Comic Sans MS" panose="030F0702030302020204" pitchFamily="66" charset="0"/>
            </a:endParaRPr>
          </a:p>
          <a:p>
            <a:endParaRPr lang="en-US" dirty="0">
              <a:latin typeface="Comic Sans MS" panose="030F0702030302020204" pitchFamily="66" charset="0"/>
            </a:endParaRPr>
          </a:p>
          <a:p>
            <a:r>
              <a:rPr lang="en-US" dirty="0">
                <a:latin typeface="Comic Sans MS" panose="030F0702030302020204" pitchFamily="66" charset="0"/>
              </a:rPr>
              <a:t>2."</a:t>
            </a:r>
            <a:r>
              <a:rPr lang="en-US" dirty="0">
                <a:solidFill>
                  <a:srgbClr val="FF0000"/>
                </a:solidFill>
                <a:latin typeface="Comic Sans MS" panose="030F0702030302020204" pitchFamily="66" charset="0"/>
              </a:rPr>
              <a:t>The years 2020, 2005, and 2010 recorded the highest number of trading entries in the dataset</a:t>
            </a:r>
            <a:r>
              <a:rPr lang="en-US" dirty="0">
                <a:latin typeface="Comic Sans MS" panose="030F0702030302020204" pitchFamily="66" charset="0"/>
              </a:rPr>
              <a:t>, each with approximately </a:t>
            </a:r>
            <a:r>
              <a:rPr lang="en-US" dirty="0">
                <a:solidFill>
                  <a:srgbClr val="FF0000"/>
                </a:solidFill>
                <a:latin typeface="Comic Sans MS" panose="030F0702030302020204" pitchFamily="66" charset="0"/>
              </a:rPr>
              <a:t>250 data points</a:t>
            </a:r>
            <a:r>
              <a:rPr lang="en-US" dirty="0">
                <a:latin typeface="Comic Sans MS" panose="030F0702030302020204" pitchFamily="66" charset="0"/>
              </a:rPr>
              <a:t>, indicating complete and consistent data coverage for those years.“</a:t>
            </a:r>
          </a:p>
          <a:p>
            <a:endParaRPr lang="en-US" dirty="0">
              <a:latin typeface="Comic Sans MS" panose="030F0702030302020204" pitchFamily="66" charset="0"/>
            </a:endParaRPr>
          </a:p>
          <a:p>
            <a:endParaRPr lang="en-US" dirty="0">
              <a:latin typeface="Comic Sans MS" panose="030F0702030302020204" pitchFamily="66" charset="0"/>
            </a:endParaRPr>
          </a:p>
          <a:p>
            <a:r>
              <a:rPr lang="en-US" dirty="0">
                <a:latin typeface="Comic Sans MS" panose="030F0702030302020204" pitchFamily="66" charset="0"/>
              </a:rPr>
              <a:t>3."</a:t>
            </a:r>
            <a:r>
              <a:rPr lang="en-US" dirty="0">
                <a:solidFill>
                  <a:srgbClr val="FF0000"/>
                </a:solidFill>
                <a:latin typeface="Comic Sans MS" panose="030F0702030302020204" pitchFamily="66" charset="0"/>
              </a:rPr>
              <a:t>Between 2002 and 2021, the month of July had the highest number of trading entries</a:t>
            </a:r>
            <a:r>
              <a:rPr lang="en-US" dirty="0">
                <a:latin typeface="Comic Sans MS" panose="030F0702030302020204" pitchFamily="66" charset="0"/>
              </a:rPr>
              <a:t>. It was followed closely by </a:t>
            </a:r>
            <a:r>
              <a:rPr lang="en-US" dirty="0">
                <a:solidFill>
                  <a:srgbClr val="FF0000"/>
                </a:solidFill>
                <a:latin typeface="Comic Sans MS" panose="030F0702030302020204" pitchFamily="66" charset="0"/>
              </a:rPr>
              <a:t>August with 394 </a:t>
            </a:r>
            <a:r>
              <a:rPr lang="en-US" dirty="0">
                <a:latin typeface="Comic Sans MS" panose="030F0702030302020204" pitchFamily="66" charset="0"/>
              </a:rPr>
              <a:t>entries and </a:t>
            </a:r>
            <a:r>
              <a:rPr lang="en-US" dirty="0">
                <a:solidFill>
                  <a:srgbClr val="FF0000"/>
                </a:solidFill>
                <a:latin typeface="Comic Sans MS" panose="030F0702030302020204" pitchFamily="66" charset="0"/>
              </a:rPr>
              <a:t>September with 390 entries."</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205840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7D482-31C1-A991-6E19-257AAD67D919}"/>
              </a:ext>
            </a:extLst>
          </p:cNvPr>
          <p:cNvSpPr>
            <a:spLocks noGrp="1"/>
          </p:cNvSpPr>
          <p:nvPr>
            <p:ph type="title"/>
          </p:nvPr>
        </p:nvSpPr>
        <p:spPr>
          <a:xfrm>
            <a:off x="87086" y="87086"/>
            <a:ext cx="12104914" cy="729343"/>
          </a:xfrm>
        </p:spPr>
        <p:txBody>
          <a:bodyPr>
            <a:normAutofit/>
          </a:bodyPr>
          <a:lstStyle/>
          <a:p>
            <a:r>
              <a:rPr lang="en-US" sz="3600" b="1" dirty="0">
                <a:solidFill>
                  <a:srgbClr val="FF0000"/>
                </a:solidFill>
                <a:latin typeface="+mn-lt"/>
              </a:rPr>
              <a:t>1. Average Opening Price of TCS Stock Over Years:</a:t>
            </a:r>
            <a:endParaRPr lang="en-IN" sz="3600" b="1" dirty="0">
              <a:solidFill>
                <a:srgbClr val="FF0000"/>
              </a:solidFill>
              <a:latin typeface="+mn-lt"/>
            </a:endParaRPr>
          </a:p>
        </p:txBody>
      </p:sp>
      <p:pic>
        <p:nvPicPr>
          <p:cNvPr id="6" name="Content Placeholder 5">
            <a:extLst>
              <a:ext uri="{FF2B5EF4-FFF2-40B4-BE49-F238E27FC236}">
                <a16:creationId xmlns:a16="http://schemas.microsoft.com/office/drawing/2014/main" id="{E1963906-8584-F3AC-C4DC-BBEE8128FF4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7085" y="1088570"/>
            <a:ext cx="7173685" cy="5682344"/>
          </a:xfrm>
        </p:spPr>
      </p:pic>
      <p:sp>
        <p:nvSpPr>
          <p:cNvPr id="4" name="Content Placeholder 3">
            <a:extLst>
              <a:ext uri="{FF2B5EF4-FFF2-40B4-BE49-F238E27FC236}">
                <a16:creationId xmlns:a16="http://schemas.microsoft.com/office/drawing/2014/main" id="{4B3B495E-2639-C4FF-CB21-26FB859AECC1}"/>
              </a:ext>
            </a:extLst>
          </p:cNvPr>
          <p:cNvSpPr>
            <a:spLocks noGrp="1"/>
          </p:cNvSpPr>
          <p:nvPr>
            <p:ph sz="half" idx="2"/>
          </p:nvPr>
        </p:nvSpPr>
        <p:spPr>
          <a:xfrm>
            <a:off x="7478486" y="1088570"/>
            <a:ext cx="4452258" cy="5682344"/>
          </a:xfrm>
          <a:noFill/>
          <a:effectLst>
            <a:outerShdw blurRad="50800" dist="38100" dir="2700000" algn="tl" rotWithShape="0">
              <a:prstClr val="black">
                <a:alpha val="40000"/>
              </a:prstClr>
            </a:outerShdw>
          </a:effectLst>
          <a:scene3d>
            <a:camera prst="perspectiveLeft"/>
            <a:lightRig rig="threePt" dir="t"/>
          </a:scene3d>
        </p:spPr>
        <p:txBody>
          <a:bodyPr>
            <a:normAutofit lnSpcReduction="10000"/>
          </a:bodyPr>
          <a:lstStyle/>
          <a:p>
            <a:r>
              <a:rPr lang="en-US" sz="2400" dirty="0">
                <a:solidFill>
                  <a:srgbClr val="FF0000"/>
                </a:solidFill>
                <a:latin typeface="Comic Sans MS" panose="030F0702030302020204" pitchFamily="66" charset="0"/>
              </a:rPr>
              <a:t>The TCS stock opening day price has shown significant long-term growth, especially after 2010, with a sharp increase in recent years. </a:t>
            </a:r>
          </a:p>
          <a:p>
            <a:endParaRPr lang="en-US" sz="2400" dirty="0">
              <a:solidFill>
                <a:srgbClr val="FF0000"/>
              </a:solidFill>
              <a:latin typeface="Comic Sans MS" panose="030F0702030302020204" pitchFamily="66" charset="0"/>
            </a:endParaRPr>
          </a:p>
          <a:p>
            <a:r>
              <a:rPr lang="en-US" sz="2400" dirty="0">
                <a:solidFill>
                  <a:srgbClr val="FFFF00"/>
                </a:solidFill>
                <a:latin typeface="Comic Sans MS" panose="030F0702030302020204" pitchFamily="66" charset="0"/>
              </a:rPr>
              <a:t>The most notable jump occurred in 2021, reaching Rs 3261.23, </a:t>
            </a:r>
            <a:r>
              <a:rPr lang="en-US" sz="2400" dirty="0">
                <a:solidFill>
                  <a:srgbClr val="FF0000"/>
                </a:solidFill>
                <a:latin typeface="Comic Sans MS" panose="030F0702030302020204" pitchFamily="66" charset="0"/>
              </a:rPr>
              <a:t>indicating strong investor confidence and a booming tech sector.</a:t>
            </a:r>
          </a:p>
          <a:p>
            <a:r>
              <a:rPr lang="en-US" sz="2400" dirty="0">
                <a:solidFill>
                  <a:srgbClr val="FF0000"/>
                </a:solidFill>
                <a:latin typeface="Comic Sans MS" panose="030F0702030302020204" pitchFamily="66" charset="0"/>
              </a:rPr>
              <a:t> </a:t>
            </a:r>
          </a:p>
          <a:p>
            <a:r>
              <a:rPr lang="en-US" sz="2400" dirty="0">
                <a:solidFill>
                  <a:srgbClr val="FF0000"/>
                </a:solidFill>
                <a:latin typeface="Comic Sans MS" panose="030F0702030302020204" pitchFamily="66" charset="0"/>
              </a:rPr>
              <a:t>There were brief periods of stability and dips, but overall, the trend remains upward</a:t>
            </a:r>
            <a:r>
              <a:rPr lang="en-US" sz="2400" dirty="0">
                <a:latin typeface="Comic Sans MS" panose="030F0702030302020204" pitchFamily="66" charset="0"/>
              </a:rPr>
              <a:t>.</a:t>
            </a:r>
            <a:endParaRPr lang="en-IN" sz="2400" dirty="0">
              <a:latin typeface="Comic Sans MS" panose="030F0702030302020204" pitchFamily="66" charset="0"/>
            </a:endParaRPr>
          </a:p>
        </p:txBody>
      </p:sp>
    </p:spTree>
    <p:extLst>
      <p:ext uri="{BB962C8B-B14F-4D97-AF65-F5344CB8AC3E}">
        <p14:creationId xmlns:p14="http://schemas.microsoft.com/office/powerpoint/2010/main" val="2922431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3B673-C147-79D0-EF90-0C99F389FA5D}"/>
              </a:ext>
            </a:extLst>
          </p:cNvPr>
          <p:cNvSpPr>
            <a:spLocks noGrp="1"/>
          </p:cNvSpPr>
          <p:nvPr>
            <p:ph type="title"/>
          </p:nvPr>
        </p:nvSpPr>
        <p:spPr>
          <a:xfrm>
            <a:off x="250371" y="97972"/>
            <a:ext cx="11756572" cy="914400"/>
          </a:xfrm>
        </p:spPr>
        <p:txBody>
          <a:bodyPr>
            <a:normAutofit fontScale="90000"/>
          </a:bodyPr>
          <a:lstStyle/>
          <a:p>
            <a:r>
              <a:rPr lang="en-US" b="1" dirty="0">
                <a:solidFill>
                  <a:srgbClr val="FF0000"/>
                </a:solidFill>
                <a:latin typeface="+mn-lt"/>
              </a:rPr>
              <a:t>1.2.Maximum Opening Price of TCS Stock Over Years</a:t>
            </a:r>
            <a:endParaRPr lang="en-IN" b="1" dirty="0">
              <a:solidFill>
                <a:srgbClr val="FF0000"/>
              </a:solidFill>
              <a:latin typeface="+mn-lt"/>
            </a:endParaRPr>
          </a:p>
        </p:txBody>
      </p:sp>
      <p:pic>
        <p:nvPicPr>
          <p:cNvPr id="6" name="Content Placeholder 5">
            <a:extLst>
              <a:ext uri="{FF2B5EF4-FFF2-40B4-BE49-F238E27FC236}">
                <a16:creationId xmlns:a16="http://schemas.microsoft.com/office/drawing/2014/main" id="{86E55FC3-72ED-BFA3-C6EE-5C9BB0EE3AA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200" y="1338944"/>
            <a:ext cx="7848599" cy="5323113"/>
          </a:xfrm>
        </p:spPr>
      </p:pic>
      <p:sp>
        <p:nvSpPr>
          <p:cNvPr id="4" name="Content Placeholder 3">
            <a:extLst>
              <a:ext uri="{FF2B5EF4-FFF2-40B4-BE49-F238E27FC236}">
                <a16:creationId xmlns:a16="http://schemas.microsoft.com/office/drawing/2014/main" id="{C9F88AEC-2D5B-E751-F84D-6CA7BB541C52}"/>
              </a:ext>
            </a:extLst>
          </p:cNvPr>
          <p:cNvSpPr>
            <a:spLocks noGrp="1"/>
          </p:cNvSpPr>
          <p:nvPr>
            <p:ph sz="half" idx="2"/>
          </p:nvPr>
        </p:nvSpPr>
        <p:spPr>
          <a:xfrm>
            <a:off x="8251371" y="1338944"/>
            <a:ext cx="3755572" cy="5323113"/>
          </a:xfrm>
        </p:spPr>
        <p:txBody>
          <a:bodyPr>
            <a:normAutofit fontScale="92500"/>
          </a:bodyPr>
          <a:lstStyle/>
          <a:p>
            <a:r>
              <a:rPr lang="en-US" sz="2400" dirty="0">
                <a:solidFill>
                  <a:srgbClr val="FF0000"/>
                </a:solidFill>
                <a:latin typeface="Comic Sans MS" panose="030F0702030302020204" pitchFamily="66" charset="0"/>
              </a:rPr>
              <a:t>The maximum opening price of TCS stock has generally increased over the years, with </a:t>
            </a:r>
            <a:r>
              <a:rPr lang="en-US" sz="2400" dirty="0">
                <a:solidFill>
                  <a:srgbClr val="FFFF00"/>
                </a:solidFill>
                <a:latin typeface="Comic Sans MS" panose="030F0702030302020204" pitchFamily="66" charset="0"/>
              </a:rPr>
              <a:t>notable peaks in 2014, 2018, and especially in 2021, which reached the highest point ₹3930.</a:t>
            </a:r>
            <a:r>
              <a:rPr lang="en-US" sz="2400" dirty="0">
                <a:solidFill>
                  <a:srgbClr val="FF0000"/>
                </a:solidFill>
                <a:latin typeface="Comic Sans MS" panose="030F0702030302020204" pitchFamily="66" charset="0"/>
              </a:rPr>
              <a:t> </a:t>
            </a:r>
          </a:p>
          <a:p>
            <a:endParaRPr lang="en-US" sz="2400" dirty="0">
              <a:solidFill>
                <a:srgbClr val="FF0000"/>
              </a:solidFill>
              <a:latin typeface="Comic Sans MS" panose="030F0702030302020204" pitchFamily="66" charset="0"/>
            </a:endParaRPr>
          </a:p>
          <a:p>
            <a:r>
              <a:rPr lang="en-US" sz="2400" dirty="0">
                <a:solidFill>
                  <a:srgbClr val="FF0000"/>
                </a:solidFill>
                <a:latin typeface="Comic Sans MS" panose="030F0702030302020204" pitchFamily="66" charset="0"/>
              </a:rPr>
              <a:t>This indicates that the stock experienced its highest valuation moments in recent years, reflecting strong growth and market confidence.</a:t>
            </a:r>
            <a:endParaRPr lang="en-IN"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21358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927E-FFCD-C242-2B1A-8BC6DD9E4BA2}"/>
              </a:ext>
            </a:extLst>
          </p:cNvPr>
          <p:cNvSpPr>
            <a:spLocks noGrp="1"/>
          </p:cNvSpPr>
          <p:nvPr>
            <p:ph type="title"/>
          </p:nvPr>
        </p:nvSpPr>
        <p:spPr>
          <a:xfrm>
            <a:off x="152400" y="152400"/>
            <a:ext cx="11821886" cy="903514"/>
          </a:xfrm>
        </p:spPr>
        <p:txBody>
          <a:bodyPr>
            <a:normAutofit/>
          </a:bodyPr>
          <a:lstStyle/>
          <a:p>
            <a:r>
              <a:rPr lang="en-US" sz="3600" b="1" dirty="0">
                <a:solidFill>
                  <a:srgbClr val="FF0000"/>
                </a:solidFill>
                <a:latin typeface="+mn-lt"/>
              </a:rPr>
              <a:t>1.3.Minimum Opening Price of TCS Stock Over Years'</a:t>
            </a:r>
            <a:endParaRPr lang="en-IN" sz="3600" b="1" dirty="0">
              <a:solidFill>
                <a:srgbClr val="FF0000"/>
              </a:solidFill>
              <a:latin typeface="+mn-lt"/>
            </a:endParaRPr>
          </a:p>
        </p:txBody>
      </p:sp>
      <p:pic>
        <p:nvPicPr>
          <p:cNvPr id="6" name="Content Placeholder 5">
            <a:extLst>
              <a:ext uri="{FF2B5EF4-FFF2-40B4-BE49-F238E27FC236}">
                <a16:creationId xmlns:a16="http://schemas.microsoft.com/office/drawing/2014/main" id="{3CCD8411-50FE-FC47-476B-452E567DCDD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2401" y="1273628"/>
            <a:ext cx="7500256" cy="5355771"/>
          </a:xfrm>
        </p:spPr>
      </p:pic>
      <p:sp>
        <p:nvSpPr>
          <p:cNvPr id="4" name="Content Placeholder 3">
            <a:extLst>
              <a:ext uri="{FF2B5EF4-FFF2-40B4-BE49-F238E27FC236}">
                <a16:creationId xmlns:a16="http://schemas.microsoft.com/office/drawing/2014/main" id="{1580A72F-6A19-1216-C639-2E1BD26FC50F}"/>
              </a:ext>
            </a:extLst>
          </p:cNvPr>
          <p:cNvSpPr>
            <a:spLocks noGrp="1"/>
          </p:cNvSpPr>
          <p:nvPr>
            <p:ph sz="half" idx="2"/>
          </p:nvPr>
        </p:nvSpPr>
        <p:spPr>
          <a:xfrm>
            <a:off x="7794171" y="1273628"/>
            <a:ext cx="4245428" cy="5355771"/>
          </a:xfrm>
        </p:spPr>
        <p:txBody>
          <a:bodyPr>
            <a:normAutofit fontScale="92500" lnSpcReduction="20000"/>
          </a:bodyPr>
          <a:lstStyle/>
          <a:p>
            <a:r>
              <a:rPr lang="en-US" sz="2400" dirty="0">
                <a:solidFill>
                  <a:srgbClr val="FF0000"/>
                </a:solidFill>
                <a:latin typeface="Comic Sans MS" panose="030F0702030302020204" pitchFamily="66" charset="0"/>
              </a:rPr>
              <a:t>The chart indicates that the minimum opening price of TCS stock has generally increased over the years, with significant rises after 2010.</a:t>
            </a:r>
          </a:p>
          <a:p>
            <a:endParaRPr lang="en-US" sz="2400" dirty="0">
              <a:solidFill>
                <a:srgbClr val="FF0000"/>
              </a:solidFill>
              <a:latin typeface="Comic Sans MS" panose="030F0702030302020204" pitchFamily="66" charset="0"/>
            </a:endParaRPr>
          </a:p>
          <a:p>
            <a:r>
              <a:rPr lang="en-US" sz="2400" dirty="0">
                <a:solidFill>
                  <a:srgbClr val="FF0000"/>
                </a:solidFill>
                <a:latin typeface="Comic Sans MS" panose="030F0702030302020204" pitchFamily="66" charset="0"/>
              </a:rPr>
              <a:t> </a:t>
            </a:r>
            <a:r>
              <a:rPr lang="en-US" sz="2400" dirty="0">
                <a:solidFill>
                  <a:srgbClr val="FFFF00"/>
                </a:solidFill>
                <a:latin typeface="Comic Sans MS" panose="030F0702030302020204" pitchFamily="66" charset="0"/>
              </a:rPr>
              <a:t>The sharpest increases occurred in 2014, 2018, and especially in 2021, reaching ₹2854. </a:t>
            </a:r>
          </a:p>
          <a:p>
            <a:endParaRPr lang="en-US" sz="2400" dirty="0">
              <a:solidFill>
                <a:srgbClr val="FFFF00"/>
              </a:solidFill>
              <a:latin typeface="Comic Sans MS" panose="030F0702030302020204" pitchFamily="66" charset="0"/>
            </a:endParaRPr>
          </a:p>
          <a:p>
            <a:r>
              <a:rPr lang="en-US" sz="2400" dirty="0">
                <a:solidFill>
                  <a:srgbClr val="FF0000"/>
                </a:solidFill>
                <a:latin typeface="Comic Sans MS" panose="030F0702030302020204" pitchFamily="66" charset="0"/>
              </a:rPr>
              <a:t>This suggests a strong upward trend in the stock's lowest valuation points, reflecting overall growth and increased investor confidence in recent years.</a:t>
            </a:r>
            <a:endParaRPr lang="en-IN"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464782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204A4-C0F4-5F76-F53F-0851548A24AF}"/>
              </a:ext>
            </a:extLst>
          </p:cNvPr>
          <p:cNvSpPr>
            <a:spLocks noGrp="1"/>
          </p:cNvSpPr>
          <p:nvPr>
            <p:ph type="title"/>
          </p:nvPr>
        </p:nvSpPr>
        <p:spPr>
          <a:xfrm>
            <a:off x="108857" y="76200"/>
            <a:ext cx="11244943" cy="1077686"/>
          </a:xfrm>
        </p:spPr>
        <p:txBody>
          <a:bodyPr>
            <a:normAutofit/>
          </a:bodyPr>
          <a:lstStyle/>
          <a:p>
            <a:r>
              <a:rPr lang="en-US" sz="3600" b="1" dirty="0">
                <a:solidFill>
                  <a:srgbClr val="FF0000"/>
                </a:solidFill>
                <a:latin typeface="+mn-lt"/>
              </a:rPr>
              <a:t>2.Highest Reached Price of TCS Stock Over Years</a:t>
            </a:r>
            <a:endParaRPr lang="en-IN" sz="3600" b="1" dirty="0">
              <a:solidFill>
                <a:srgbClr val="FF0000"/>
              </a:solidFill>
              <a:latin typeface="+mn-lt"/>
            </a:endParaRPr>
          </a:p>
        </p:txBody>
      </p:sp>
      <p:pic>
        <p:nvPicPr>
          <p:cNvPr id="6" name="Content Placeholder 5">
            <a:extLst>
              <a:ext uri="{FF2B5EF4-FFF2-40B4-BE49-F238E27FC236}">
                <a16:creationId xmlns:a16="http://schemas.microsoft.com/office/drawing/2014/main" id="{DD902BA4-2EF9-41D1-1D4A-4A94B1981E5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8857" y="1153886"/>
            <a:ext cx="7304314" cy="5627913"/>
          </a:xfrm>
        </p:spPr>
      </p:pic>
      <p:sp>
        <p:nvSpPr>
          <p:cNvPr id="4" name="Content Placeholder 3">
            <a:extLst>
              <a:ext uri="{FF2B5EF4-FFF2-40B4-BE49-F238E27FC236}">
                <a16:creationId xmlns:a16="http://schemas.microsoft.com/office/drawing/2014/main" id="{DA392CB5-46DA-D946-885F-CAD9BC800A3F}"/>
              </a:ext>
            </a:extLst>
          </p:cNvPr>
          <p:cNvSpPr>
            <a:spLocks noGrp="1"/>
          </p:cNvSpPr>
          <p:nvPr>
            <p:ph sz="half" idx="2"/>
          </p:nvPr>
        </p:nvSpPr>
        <p:spPr>
          <a:xfrm>
            <a:off x="7609115" y="1273629"/>
            <a:ext cx="4180114" cy="4952999"/>
          </a:xfrm>
        </p:spPr>
        <p:txBody>
          <a:bodyPr>
            <a:normAutofit/>
          </a:bodyPr>
          <a:lstStyle/>
          <a:p>
            <a:r>
              <a:rPr lang="en-US" sz="2400" dirty="0">
                <a:solidFill>
                  <a:srgbClr val="FF0000"/>
                </a:solidFill>
                <a:latin typeface="Comic Sans MS" panose="030F0702030302020204" pitchFamily="66" charset="0"/>
              </a:rPr>
              <a:t>The chart shows that the </a:t>
            </a:r>
            <a:r>
              <a:rPr lang="en-US" sz="2400" dirty="0">
                <a:solidFill>
                  <a:srgbClr val="FFFF00"/>
                </a:solidFill>
                <a:latin typeface="Comic Sans MS" panose="030F0702030302020204" pitchFamily="66" charset="0"/>
              </a:rPr>
              <a:t>highest reached price of TCS stock has mostly increased over the years, with a significant surge after 2010. </a:t>
            </a:r>
          </a:p>
          <a:p>
            <a:r>
              <a:rPr lang="en-US" sz="2400" dirty="0">
                <a:solidFill>
                  <a:srgbClr val="FFFF00"/>
                </a:solidFill>
                <a:latin typeface="Comic Sans MS" panose="030F0702030302020204" pitchFamily="66" charset="0"/>
              </a:rPr>
              <a:t>The peak in 2021, around ₹4000, highlights the stock’s strong upward momentum, </a:t>
            </a:r>
            <a:r>
              <a:rPr lang="en-US" sz="2400" dirty="0">
                <a:solidFill>
                  <a:srgbClr val="FF0000"/>
                </a:solidFill>
                <a:latin typeface="Comic Sans MS" panose="030F0702030302020204" pitchFamily="66" charset="0"/>
              </a:rPr>
              <a:t>indicating increased investor confidence and substantial growth in its valuation over time</a:t>
            </a:r>
            <a:endParaRPr lang="en-IN"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627454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825A7-9CE9-A50F-2802-6C0BDCE92556}"/>
              </a:ext>
            </a:extLst>
          </p:cNvPr>
          <p:cNvSpPr>
            <a:spLocks noGrp="1"/>
          </p:cNvSpPr>
          <p:nvPr>
            <p:ph type="title"/>
          </p:nvPr>
        </p:nvSpPr>
        <p:spPr>
          <a:xfrm>
            <a:off x="97970" y="97971"/>
            <a:ext cx="11255829" cy="751115"/>
          </a:xfrm>
        </p:spPr>
        <p:txBody>
          <a:bodyPr>
            <a:normAutofit/>
          </a:bodyPr>
          <a:lstStyle/>
          <a:p>
            <a:r>
              <a:rPr lang="en-US" sz="3600" b="1" dirty="0">
                <a:solidFill>
                  <a:srgbClr val="FF0000"/>
                </a:solidFill>
                <a:latin typeface="+mn-lt"/>
              </a:rPr>
              <a:t>3.Lowest Reached Price of TCS Stock Over Years</a:t>
            </a:r>
            <a:endParaRPr lang="en-IN" sz="3600" b="1" dirty="0">
              <a:solidFill>
                <a:srgbClr val="FF0000"/>
              </a:solidFill>
              <a:latin typeface="+mn-lt"/>
            </a:endParaRPr>
          </a:p>
        </p:txBody>
      </p:sp>
      <p:pic>
        <p:nvPicPr>
          <p:cNvPr id="6" name="Content Placeholder 5">
            <a:extLst>
              <a:ext uri="{FF2B5EF4-FFF2-40B4-BE49-F238E27FC236}">
                <a16:creationId xmlns:a16="http://schemas.microsoft.com/office/drawing/2014/main" id="{792EF59A-B4F8-0643-928A-8A1254D064C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7969" y="1114034"/>
            <a:ext cx="7783287" cy="5645995"/>
          </a:xfrm>
        </p:spPr>
      </p:pic>
      <p:sp>
        <p:nvSpPr>
          <p:cNvPr id="4" name="Content Placeholder 3">
            <a:extLst>
              <a:ext uri="{FF2B5EF4-FFF2-40B4-BE49-F238E27FC236}">
                <a16:creationId xmlns:a16="http://schemas.microsoft.com/office/drawing/2014/main" id="{55B25EF4-814E-6357-FC2D-0240B5FFC51D}"/>
              </a:ext>
            </a:extLst>
          </p:cNvPr>
          <p:cNvSpPr>
            <a:spLocks noGrp="1"/>
          </p:cNvSpPr>
          <p:nvPr>
            <p:ph sz="half" idx="2"/>
          </p:nvPr>
        </p:nvSpPr>
        <p:spPr>
          <a:xfrm>
            <a:off x="8131629" y="1114034"/>
            <a:ext cx="3777342" cy="5598761"/>
          </a:xfrm>
        </p:spPr>
        <p:txBody>
          <a:bodyPr>
            <a:normAutofit fontScale="92500" lnSpcReduction="20000"/>
          </a:bodyPr>
          <a:lstStyle/>
          <a:p>
            <a:r>
              <a:rPr lang="en-US" dirty="0">
                <a:solidFill>
                  <a:srgbClr val="FF0000"/>
                </a:solidFill>
                <a:latin typeface="Comic Sans MS" panose="030F0702030302020204" pitchFamily="66" charset="0"/>
              </a:rPr>
              <a:t>The chart indicates that the </a:t>
            </a:r>
            <a:r>
              <a:rPr lang="en-US" dirty="0">
                <a:solidFill>
                  <a:srgbClr val="FFFF00"/>
                </a:solidFill>
                <a:latin typeface="Comic Sans MS" panose="030F0702030302020204" pitchFamily="66" charset="0"/>
              </a:rPr>
              <a:t>lowest reached price of TCS stock has consistently increased over the years, especially after 2010.</a:t>
            </a:r>
          </a:p>
          <a:p>
            <a:endParaRPr lang="en-US" dirty="0">
              <a:solidFill>
                <a:srgbClr val="FFFF00"/>
              </a:solidFill>
              <a:latin typeface="Comic Sans MS" panose="030F0702030302020204" pitchFamily="66" charset="0"/>
            </a:endParaRPr>
          </a:p>
          <a:p>
            <a:r>
              <a:rPr lang="en-US" dirty="0">
                <a:solidFill>
                  <a:srgbClr val="FFFF00"/>
                </a:solidFill>
                <a:latin typeface="Comic Sans MS" panose="030F0702030302020204" pitchFamily="66" charset="0"/>
              </a:rPr>
              <a:t> The most notable rise occurred in 2021, reaching  ₹2853, </a:t>
            </a:r>
            <a:r>
              <a:rPr lang="en-US" dirty="0">
                <a:solidFill>
                  <a:srgbClr val="FF0000"/>
                </a:solidFill>
                <a:latin typeface="Comic Sans MS" panose="030F0702030302020204" pitchFamily="66" charset="0"/>
              </a:rPr>
              <a:t>reflecting strong growth and rising investor confidence in recent years.</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307563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A45E9-4B1A-96F6-EA92-F17DAA388E55}"/>
              </a:ext>
            </a:extLst>
          </p:cNvPr>
          <p:cNvSpPr>
            <a:spLocks noGrp="1"/>
          </p:cNvSpPr>
          <p:nvPr>
            <p:ph type="title"/>
          </p:nvPr>
        </p:nvSpPr>
        <p:spPr>
          <a:xfrm>
            <a:off x="130629" y="250371"/>
            <a:ext cx="11223171" cy="881743"/>
          </a:xfrm>
        </p:spPr>
        <p:txBody>
          <a:bodyPr>
            <a:normAutofit/>
          </a:bodyPr>
          <a:lstStyle/>
          <a:p>
            <a:r>
              <a:rPr lang="en-US" sz="4000" b="1" dirty="0">
                <a:solidFill>
                  <a:srgbClr val="FF0000"/>
                </a:solidFill>
                <a:latin typeface="+mn-lt"/>
              </a:rPr>
              <a:t> 4.Closing Average Price of TCS Stock Over Years</a:t>
            </a:r>
            <a:endParaRPr lang="en-IN" sz="4000" b="1" dirty="0">
              <a:solidFill>
                <a:srgbClr val="FF0000"/>
              </a:solidFill>
              <a:latin typeface="+mn-lt"/>
            </a:endParaRPr>
          </a:p>
        </p:txBody>
      </p:sp>
      <p:pic>
        <p:nvPicPr>
          <p:cNvPr id="6" name="Content Placeholder 5">
            <a:extLst>
              <a:ext uri="{FF2B5EF4-FFF2-40B4-BE49-F238E27FC236}">
                <a16:creationId xmlns:a16="http://schemas.microsoft.com/office/drawing/2014/main" id="{90ED88D4-A587-DB98-696F-0A96B80DE17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1349828"/>
            <a:ext cx="8088086" cy="5257801"/>
          </a:xfrm>
        </p:spPr>
      </p:pic>
      <p:sp>
        <p:nvSpPr>
          <p:cNvPr id="4" name="Content Placeholder 3">
            <a:extLst>
              <a:ext uri="{FF2B5EF4-FFF2-40B4-BE49-F238E27FC236}">
                <a16:creationId xmlns:a16="http://schemas.microsoft.com/office/drawing/2014/main" id="{014489A6-9A6A-6465-F775-4ED680711036}"/>
              </a:ext>
            </a:extLst>
          </p:cNvPr>
          <p:cNvSpPr>
            <a:spLocks noGrp="1"/>
          </p:cNvSpPr>
          <p:nvPr>
            <p:ph sz="half" idx="2"/>
          </p:nvPr>
        </p:nvSpPr>
        <p:spPr>
          <a:xfrm>
            <a:off x="8251371" y="1349828"/>
            <a:ext cx="3635828" cy="5257801"/>
          </a:xfrm>
        </p:spPr>
        <p:txBody>
          <a:bodyPr>
            <a:normAutofit fontScale="92500" lnSpcReduction="20000"/>
          </a:bodyPr>
          <a:lstStyle/>
          <a:p>
            <a:r>
              <a:rPr lang="en-US" dirty="0">
                <a:solidFill>
                  <a:srgbClr val="FF0000"/>
                </a:solidFill>
                <a:latin typeface="Comic Sans MS" panose="030F0702030302020204" pitchFamily="66" charset="0"/>
              </a:rPr>
              <a:t>The chart shows that the </a:t>
            </a:r>
            <a:r>
              <a:rPr lang="en-US" dirty="0">
                <a:solidFill>
                  <a:srgbClr val="FFFF00"/>
                </a:solidFill>
                <a:latin typeface="Comic Sans MS" panose="030F0702030302020204" pitchFamily="66" charset="0"/>
              </a:rPr>
              <a:t>closing average price of TCS stock has generally increased over the years, with a marked acceleration after 2010.</a:t>
            </a:r>
          </a:p>
          <a:p>
            <a:endParaRPr lang="en-US" dirty="0">
              <a:solidFill>
                <a:srgbClr val="FFFF00"/>
              </a:solidFill>
              <a:latin typeface="Comic Sans MS" panose="030F0702030302020204" pitchFamily="66" charset="0"/>
            </a:endParaRPr>
          </a:p>
          <a:p>
            <a:r>
              <a:rPr lang="en-US" dirty="0">
                <a:solidFill>
                  <a:srgbClr val="FFFF00"/>
                </a:solidFill>
                <a:latin typeface="Comic Sans MS" panose="030F0702030302020204" pitchFamily="66" charset="0"/>
              </a:rPr>
              <a:t> The most recent peak in 2021, reaching around ₹3954, </a:t>
            </a:r>
            <a:r>
              <a:rPr lang="en-US" dirty="0">
                <a:solidFill>
                  <a:srgbClr val="FF0000"/>
                </a:solidFill>
                <a:latin typeface="Comic Sans MS" panose="030F0702030302020204" pitchFamily="66" charset="0"/>
              </a:rPr>
              <a:t>highlights strong growth and investor confidence in recent years.</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06634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E98E-6174-E360-81A0-5E0F86121F96}"/>
              </a:ext>
            </a:extLst>
          </p:cNvPr>
          <p:cNvSpPr>
            <a:spLocks noGrp="1"/>
          </p:cNvSpPr>
          <p:nvPr>
            <p:ph type="title"/>
          </p:nvPr>
        </p:nvSpPr>
        <p:spPr>
          <a:xfrm>
            <a:off x="326571" y="228601"/>
            <a:ext cx="11027229" cy="968828"/>
          </a:xfrm>
        </p:spPr>
        <p:txBody>
          <a:bodyPr>
            <a:normAutofit fontScale="90000"/>
          </a:bodyPr>
          <a:lstStyle/>
          <a:p>
            <a:r>
              <a:rPr lang="en-US" dirty="0">
                <a:solidFill>
                  <a:srgbClr val="FF0000"/>
                </a:solidFill>
                <a:latin typeface="+mn-lt"/>
              </a:rPr>
              <a:t> 4.2</a:t>
            </a:r>
            <a:r>
              <a:rPr lang="en-US" b="1" dirty="0">
                <a:solidFill>
                  <a:srgbClr val="FF0000"/>
                </a:solidFill>
                <a:latin typeface="+mn-lt"/>
              </a:rPr>
              <a:t>.Closing maximum Price of TCS Stock Over Years</a:t>
            </a:r>
            <a:endParaRPr lang="en-IN" b="1" dirty="0">
              <a:solidFill>
                <a:srgbClr val="FF0000"/>
              </a:solidFill>
              <a:latin typeface="+mn-lt"/>
            </a:endParaRPr>
          </a:p>
        </p:txBody>
      </p:sp>
      <p:pic>
        <p:nvPicPr>
          <p:cNvPr id="6" name="Content Placeholder 5">
            <a:extLst>
              <a:ext uri="{FF2B5EF4-FFF2-40B4-BE49-F238E27FC236}">
                <a16:creationId xmlns:a16="http://schemas.microsoft.com/office/drawing/2014/main" id="{4280409C-F131-0E59-B8EA-E65D5E6C240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1514" y="1469571"/>
            <a:ext cx="8044543" cy="5159829"/>
          </a:xfrm>
        </p:spPr>
      </p:pic>
      <p:sp>
        <p:nvSpPr>
          <p:cNvPr id="4" name="Content Placeholder 3">
            <a:extLst>
              <a:ext uri="{FF2B5EF4-FFF2-40B4-BE49-F238E27FC236}">
                <a16:creationId xmlns:a16="http://schemas.microsoft.com/office/drawing/2014/main" id="{902B1622-3B48-26AB-F01D-278C802841D9}"/>
              </a:ext>
            </a:extLst>
          </p:cNvPr>
          <p:cNvSpPr>
            <a:spLocks noGrp="1"/>
          </p:cNvSpPr>
          <p:nvPr>
            <p:ph sz="half" idx="2"/>
          </p:nvPr>
        </p:nvSpPr>
        <p:spPr>
          <a:xfrm>
            <a:off x="8371114" y="1469571"/>
            <a:ext cx="3581399" cy="5279572"/>
          </a:xfrm>
        </p:spPr>
        <p:txBody>
          <a:bodyPr>
            <a:normAutofit fontScale="85000" lnSpcReduction="20000"/>
          </a:bodyPr>
          <a:lstStyle/>
          <a:p>
            <a:r>
              <a:rPr lang="en-US" dirty="0">
                <a:solidFill>
                  <a:srgbClr val="FF0000"/>
                </a:solidFill>
                <a:latin typeface="Comic Sans MS" panose="030F0702030302020204" pitchFamily="66" charset="0"/>
              </a:rPr>
              <a:t>The chart shows that </a:t>
            </a:r>
            <a:r>
              <a:rPr lang="en-US" dirty="0">
                <a:solidFill>
                  <a:srgbClr val="FFFF00"/>
                </a:solidFill>
                <a:latin typeface="Comic Sans MS" panose="030F0702030302020204" pitchFamily="66" charset="0"/>
              </a:rPr>
              <a:t>TCS stock's closing maximum price has generally increased over the years, with notable acceleration after 2010. </a:t>
            </a:r>
          </a:p>
          <a:p>
            <a:endParaRPr lang="en-US" dirty="0">
              <a:solidFill>
                <a:srgbClr val="FFFF00"/>
              </a:solidFill>
              <a:latin typeface="Comic Sans MS" panose="030F0702030302020204" pitchFamily="66" charset="0"/>
            </a:endParaRPr>
          </a:p>
          <a:p>
            <a:r>
              <a:rPr lang="en-US" dirty="0">
                <a:solidFill>
                  <a:srgbClr val="FFFF00"/>
                </a:solidFill>
                <a:latin typeface="Comic Sans MS" panose="030F0702030302020204" pitchFamily="66" charset="0"/>
              </a:rPr>
              <a:t>The peak in 2021, reaching nearly ₹4000, </a:t>
            </a:r>
            <a:r>
              <a:rPr lang="en-US" dirty="0">
                <a:solidFill>
                  <a:srgbClr val="FF0000"/>
                </a:solidFill>
                <a:latin typeface="Comic Sans MS" panose="030F0702030302020204" pitchFamily="66" charset="0"/>
              </a:rPr>
              <a:t>highlights strong growth and investor confidence in recent years, with the highest valuation points occurring in 2021.</a:t>
            </a:r>
            <a:endParaRPr lang="en-IN"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444190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6F97-FEFF-79B7-5231-1599C318D9D9}"/>
              </a:ext>
            </a:extLst>
          </p:cNvPr>
          <p:cNvSpPr>
            <a:spLocks noGrp="1"/>
          </p:cNvSpPr>
          <p:nvPr>
            <p:ph type="title"/>
          </p:nvPr>
        </p:nvSpPr>
        <p:spPr>
          <a:xfrm>
            <a:off x="0" y="272144"/>
            <a:ext cx="11974286" cy="1077686"/>
          </a:xfrm>
        </p:spPr>
        <p:txBody>
          <a:bodyPr>
            <a:noAutofit/>
          </a:bodyPr>
          <a:lstStyle/>
          <a:p>
            <a:r>
              <a:rPr lang="en-US" sz="4000" dirty="0">
                <a:solidFill>
                  <a:srgbClr val="FF0000"/>
                </a:solidFill>
                <a:latin typeface="+mn-lt"/>
              </a:rPr>
              <a:t>4.3Minimum Closing price of TCS  Stocks over years:</a:t>
            </a:r>
            <a:br>
              <a:rPr lang="en-US" sz="4000" dirty="0">
                <a:solidFill>
                  <a:srgbClr val="FF0000"/>
                </a:solidFill>
                <a:latin typeface="+mn-lt"/>
              </a:rPr>
            </a:br>
            <a:endParaRPr lang="en-IN" sz="4000" dirty="0">
              <a:solidFill>
                <a:srgbClr val="FF0000"/>
              </a:solidFill>
              <a:latin typeface="+mn-lt"/>
            </a:endParaRPr>
          </a:p>
        </p:txBody>
      </p:sp>
      <p:pic>
        <p:nvPicPr>
          <p:cNvPr id="6" name="Content Placeholder 5">
            <a:extLst>
              <a:ext uri="{FF2B5EF4-FFF2-40B4-BE49-F238E27FC236}">
                <a16:creationId xmlns:a16="http://schemas.microsoft.com/office/drawing/2014/main" id="{9F2021BD-E324-0EEB-0691-A4A8D43300F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2399" y="1208314"/>
            <a:ext cx="7097487" cy="5464629"/>
          </a:xfrm>
        </p:spPr>
      </p:pic>
      <p:sp>
        <p:nvSpPr>
          <p:cNvPr id="4" name="Content Placeholder 3">
            <a:extLst>
              <a:ext uri="{FF2B5EF4-FFF2-40B4-BE49-F238E27FC236}">
                <a16:creationId xmlns:a16="http://schemas.microsoft.com/office/drawing/2014/main" id="{58ACAC7C-EB2E-BD72-CF8A-9593E1EF97EE}"/>
              </a:ext>
            </a:extLst>
          </p:cNvPr>
          <p:cNvSpPr>
            <a:spLocks noGrp="1"/>
          </p:cNvSpPr>
          <p:nvPr>
            <p:ph sz="half" idx="2"/>
          </p:nvPr>
        </p:nvSpPr>
        <p:spPr>
          <a:xfrm>
            <a:off x="7674430" y="1208314"/>
            <a:ext cx="4365171" cy="5442856"/>
          </a:xfrm>
        </p:spPr>
        <p:txBody>
          <a:bodyPr>
            <a:noAutofit/>
          </a:bodyPr>
          <a:lstStyle/>
          <a:p>
            <a:r>
              <a:rPr lang="en-US" sz="2400" dirty="0">
                <a:solidFill>
                  <a:srgbClr val="FF0000"/>
                </a:solidFill>
                <a:latin typeface="Comic Sans MS" panose="030F0702030302020204" pitchFamily="66" charset="0"/>
              </a:rPr>
              <a:t>The minimum closing price of TCS stock showed stable behavior in the early 2000s</a:t>
            </a:r>
            <a:r>
              <a:rPr lang="en-US" sz="2400" dirty="0">
                <a:solidFill>
                  <a:srgbClr val="FFFF00"/>
                </a:solidFill>
                <a:latin typeface="Comic Sans MS" panose="030F0702030302020204" pitchFamily="66" charset="0"/>
              </a:rPr>
              <a:t>, dipped during the 2008 financial crisis, and then steadily increased from 2010 onwards.</a:t>
            </a:r>
          </a:p>
          <a:p>
            <a:endParaRPr lang="en-US" sz="2400" dirty="0">
              <a:solidFill>
                <a:srgbClr val="FFFF00"/>
              </a:solidFill>
              <a:latin typeface="Comic Sans MS" panose="030F0702030302020204" pitchFamily="66" charset="0"/>
            </a:endParaRPr>
          </a:p>
          <a:p>
            <a:r>
              <a:rPr lang="en-US" sz="2400" dirty="0">
                <a:solidFill>
                  <a:srgbClr val="FFFF00"/>
                </a:solidFill>
                <a:latin typeface="Comic Sans MS" panose="030F0702030302020204" pitchFamily="66" charset="0"/>
              </a:rPr>
              <a:t> Notably, post-2018 saw sharp growth, peaking in 2021 near ₹2900. </a:t>
            </a:r>
            <a:r>
              <a:rPr lang="en-US" sz="2400" dirty="0">
                <a:solidFill>
                  <a:srgbClr val="FF0000"/>
                </a:solidFill>
                <a:latin typeface="Comic Sans MS" panose="030F0702030302020204" pitchFamily="66" charset="0"/>
              </a:rPr>
              <a:t>This overall upward trend reflects long-term growth and increasing stability in TCS’s stock performance.</a:t>
            </a:r>
          </a:p>
        </p:txBody>
      </p:sp>
    </p:spTree>
    <p:extLst>
      <p:ext uri="{BB962C8B-B14F-4D97-AF65-F5344CB8AC3E}">
        <p14:creationId xmlns:p14="http://schemas.microsoft.com/office/powerpoint/2010/main" val="1870690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DD5AB-50FF-9E31-9994-58E218DFC730}"/>
              </a:ext>
            </a:extLst>
          </p:cNvPr>
          <p:cNvSpPr>
            <a:spLocks noGrp="1"/>
          </p:cNvSpPr>
          <p:nvPr>
            <p:ph type="title"/>
          </p:nvPr>
        </p:nvSpPr>
        <p:spPr>
          <a:xfrm>
            <a:off x="370114" y="206829"/>
            <a:ext cx="10983686" cy="1023257"/>
          </a:xfrm>
        </p:spPr>
        <p:txBody>
          <a:bodyPr>
            <a:normAutofit fontScale="90000"/>
          </a:bodyPr>
          <a:lstStyle/>
          <a:p>
            <a:r>
              <a:rPr lang="en-US" b="1" dirty="0">
                <a:solidFill>
                  <a:srgbClr val="FF0000"/>
                </a:solidFill>
                <a:latin typeface="+mn-lt"/>
              </a:rPr>
              <a:t>5. .Distribution of Volume of TCS Stocks over Years:</a:t>
            </a:r>
            <a:br>
              <a:rPr lang="en-US" b="1" dirty="0">
                <a:solidFill>
                  <a:srgbClr val="FF0000"/>
                </a:solidFill>
                <a:latin typeface="+mn-lt"/>
              </a:rPr>
            </a:br>
            <a:endParaRPr lang="en-IN" b="1" dirty="0">
              <a:solidFill>
                <a:srgbClr val="FF0000"/>
              </a:solidFill>
              <a:latin typeface="+mn-lt"/>
            </a:endParaRPr>
          </a:p>
        </p:txBody>
      </p:sp>
      <p:pic>
        <p:nvPicPr>
          <p:cNvPr id="6" name="Content Placeholder 5">
            <a:extLst>
              <a:ext uri="{FF2B5EF4-FFF2-40B4-BE49-F238E27FC236}">
                <a16:creationId xmlns:a16="http://schemas.microsoft.com/office/drawing/2014/main" id="{FC1CBB2E-BE8A-5D39-9551-6AF83178AB3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1513" y="1371599"/>
            <a:ext cx="7500257" cy="5279571"/>
          </a:xfrm>
        </p:spPr>
      </p:pic>
      <p:sp>
        <p:nvSpPr>
          <p:cNvPr id="4" name="Content Placeholder 3">
            <a:extLst>
              <a:ext uri="{FF2B5EF4-FFF2-40B4-BE49-F238E27FC236}">
                <a16:creationId xmlns:a16="http://schemas.microsoft.com/office/drawing/2014/main" id="{AA9FA3B9-54D4-1632-6D1E-AB7A0BDB5661}"/>
              </a:ext>
            </a:extLst>
          </p:cNvPr>
          <p:cNvSpPr>
            <a:spLocks noGrp="1"/>
          </p:cNvSpPr>
          <p:nvPr>
            <p:ph sz="half" idx="2"/>
          </p:nvPr>
        </p:nvSpPr>
        <p:spPr>
          <a:xfrm>
            <a:off x="7881258" y="1491343"/>
            <a:ext cx="4027714" cy="5159828"/>
          </a:xfrm>
        </p:spPr>
        <p:txBody>
          <a:bodyPr>
            <a:normAutofit/>
          </a:bodyPr>
          <a:lstStyle/>
          <a:p>
            <a:r>
              <a:rPr lang="en-US" sz="2400" dirty="0">
                <a:solidFill>
                  <a:srgbClr val="FF0000"/>
                </a:solidFill>
                <a:latin typeface="Comic Sans MS" panose="030F0702030302020204" pitchFamily="66" charset="0"/>
              </a:rPr>
              <a:t>The line chart shows TCS trading volume from 2002 to 2021.</a:t>
            </a:r>
          </a:p>
          <a:p>
            <a:r>
              <a:rPr lang="en-US" sz="2400" dirty="0">
                <a:solidFill>
                  <a:srgbClr val="FF0000"/>
                </a:solidFill>
                <a:latin typeface="Comic Sans MS" panose="030F0702030302020204" pitchFamily="66" charset="0"/>
              </a:rPr>
              <a:t> </a:t>
            </a:r>
            <a:r>
              <a:rPr lang="en-US" sz="2400" dirty="0">
                <a:solidFill>
                  <a:srgbClr val="FFFF00"/>
                </a:solidFill>
                <a:latin typeface="Comic Sans MS" panose="030F0702030302020204" pitchFamily="66" charset="0"/>
              </a:rPr>
              <a:t>Volume peaked around 2005–2008 (~1.5 billion units), then declined with fluctuations.</a:t>
            </a:r>
          </a:p>
          <a:p>
            <a:r>
              <a:rPr lang="en-US" sz="2400" dirty="0">
                <a:solidFill>
                  <a:srgbClr val="FFFF00"/>
                </a:solidFill>
                <a:latin typeface="Comic Sans MS" panose="030F0702030302020204" pitchFamily="66" charset="0"/>
              </a:rPr>
              <a:t> Moderate spikes appeared in 2017 and 2019.</a:t>
            </a:r>
            <a:r>
              <a:rPr lang="en-US" sz="2400" dirty="0">
                <a:solidFill>
                  <a:srgbClr val="FF0000"/>
                </a:solidFill>
                <a:latin typeface="Comic Sans MS" panose="030F0702030302020204" pitchFamily="66" charset="0"/>
              </a:rPr>
              <a:t> Trading volume in 2020–2021 remained lower than peak years but still higher than the early 2000s.</a:t>
            </a:r>
            <a:endParaRPr lang="en-IN"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3454339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DEEB-B12C-8905-2176-3EA6D6B893EA}"/>
              </a:ext>
            </a:extLst>
          </p:cNvPr>
          <p:cNvSpPr>
            <a:spLocks noGrp="1"/>
          </p:cNvSpPr>
          <p:nvPr>
            <p:ph type="title"/>
          </p:nvPr>
        </p:nvSpPr>
        <p:spPr>
          <a:xfrm>
            <a:off x="239487" y="217716"/>
            <a:ext cx="11114314" cy="1262742"/>
          </a:xfrm>
        </p:spPr>
        <p:txBody>
          <a:bodyPr>
            <a:noAutofit/>
          </a:bodyPr>
          <a:lstStyle/>
          <a:p>
            <a:r>
              <a:rPr lang="en-US" b="1" dirty="0">
                <a:solidFill>
                  <a:srgbClr val="FF0000"/>
                </a:solidFill>
                <a:latin typeface="+mn-lt"/>
              </a:rPr>
              <a:t>5.2 Maximum Volume traded per year</a:t>
            </a:r>
            <a:br>
              <a:rPr lang="en-US" b="1" dirty="0">
                <a:solidFill>
                  <a:srgbClr val="FF0000"/>
                </a:solidFill>
                <a:latin typeface="+mn-lt"/>
              </a:rPr>
            </a:br>
            <a:endParaRPr lang="en-IN" b="1" dirty="0">
              <a:solidFill>
                <a:srgbClr val="FF0000"/>
              </a:solidFill>
              <a:latin typeface="+mn-lt"/>
            </a:endParaRPr>
          </a:p>
        </p:txBody>
      </p:sp>
      <p:pic>
        <p:nvPicPr>
          <p:cNvPr id="6" name="Content Placeholder 5">
            <a:extLst>
              <a:ext uri="{FF2B5EF4-FFF2-40B4-BE49-F238E27FC236}">
                <a16:creationId xmlns:a16="http://schemas.microsoft.com/office/drawing/2014/main" id="{82B8EB94-6834-31DF-9E62-A11D2BBA119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1514" y="1230086"/>
            <a:ext cx="6847115" cy="5410199"/>
          </a:xfrm>
        </p:spPr>
      </p:pic>
      <p:sp>
        <p:nvSpPr>
          <p:cNvPr id="4" name="Content Placeholder 3">
            <a:extLst>
              <a:ext uri="{FF2B5EF4-FFF2-40B4-BE49-F238E27FC236}">
                <a16:creationId xmlns:a16="http://schemas.microsoft.com/office/drawing/2014/main" id="{DFA1EC96-694F-E33F-5491-9137533F69C6}"/>
              </a:ext>
            </a:extLst>
          </p:cNvPr>
          <p:cNvSpPr>
            <a:spLocks noGrp="1"/>
          </p:cNvSpPr>
          <p:nvPr>
            <p:ph sz="half" idx="2"/>
          </p:nvPr>
        </p:nvSpPr>
        <p:spPr>
          <a:xfrm>
            <a:off x="7402286" y="1665514"/>
            <a:ext cx="4561114" cy="4974771"/>
          </a:xfrm>
        </p:spPr>
        <p:txBody>
          <a:bodyPr>
            <a:normAutofit/>
          </a:bodyPr>
          <a:lstStyle/>
          <a:p>
            <a:r>
              <a:rPr lang="en-US" sz="2400" dirty="0">
                <a:solidFill>
                  <a:srgbClr val="FF0000"/>
                </a:solidFill>
                <a:latin typeface="Comic Sans MS" panose="030F0702030302020204" pitchFamily="66" charset="0"/>
              </a:rPr>
              <a:t>The chart shows TCS's maximum trading volume from 2002 to 2021.</a:t>
            </a:r>
          </a:p>
          <a:p>
            <a:r>
              <a:rPr lang="en-US" sz="2400" dirty="0">
                <a:solidFill>
                  <a:srgbClr val="FF0000"/>
                </a:solidFill>
                <a:latin typeface="Comic Sans MS" panose="030F0702030302020204" pitchFamily="66" charset="0"/>
              </a:rPr>
              <a:t> </a:t>
            </a:r>
            <a:r>
              <a:rPr lang="en-US" sz="2400" dirty="0">
                <a:solidFill>
                  <a:srgbClr val="FFFF00"/>
                </a:solidFill>
                <a:latin typeface="Comic Sans MS" panose="030F0702030302020204" pitchFamily="66" charset="0"/>
              </a:rPr>
              <a:t>Major peaks appear between 2005–2009, with a sharp spike in 2018 (~90 million). Post-2018, volumes drop but stay higher than earlier years. </a:t>
            </a:r>
          </a:p>
          <a:p>
            <a:r>
              <a:rPr lang="en-US" sz="2400" dirty="0">
                <a:solidFill>
                  <a:srgbClr val="FFFF00"/>
                </a:solidFill>
                <a:latin typeface="Comic Sans MS" panose="030F0702030302020204" pitchFamily="66" charset="0"/>
              </a:rPr>
              <a:t>Years like 2003, 2006, and 2010 show lower peaks,</a:t>
            </a:r>
            <a:r>
              <a:rPr lang="en-US" sz="2400" dirty="0">
                <a:solidFill>
                  <a:srgbClr val="FF0000"/>
                </a:solidFill>
                <a:latin typeface="Comic Sans MS" panose="030F0702030302020204" pitchFamily="66" charset="0"/>
              </a:rPr>
              <a:t> reflecting quieter trading periods.</a:t>
            </a:r>
            <a:endParaRPr lang="en-IN" sz="2400"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163338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A54E-81F1-C5BE-A8DC-78EFAF70060B}"/>
              </a:ext>
            </a:extLst>
          </p:cNvPr>
          <p:cNvSpPr>
            <a:spLocks noGrp="1"/>
          </p:cNvSpPr>
          <p:nvPr>
            <p:ph type="title"/>
          </p:nvPr>
        </p:nvSpPr>
        <p:spPr>
          <a:xfrm>
            <a:off x="261938" y="365125"/>
            <a:ext cx="11091862" cy="926851"/>
          </a:xfrm>
        </p:spPr>
        <p:txBody>
          <a:bodyPr>
            <a:normAutofit fontScale="90000"/>
          </a:bodyPr>
          <a:lstStyle/>
          <a:p>
            <a:r>
              <a:rPr lang="en-US" dirty="0">
                <a:solidFill>
                  <a:srgbClr val="FF0000"/>
                </a:solidFill>
                <a:latin typeface="Comic Sans MS" panose="030F0702030302020204" pitchFamily="66" charset="0"/>
              </a:rPr>
              <a:t>6.Dividend Distribution in TCS STOCK</a:t>
            </a:r>
            <a:br>
              <a:rPr lang="en-US" dirty="0">
                <a:solidFill>
                  <a:srgbClr val="FF0000"/>
                </a:solidFill>
              </a:rPr>
            </a:br>
            <a:endParaRPr lang="en-IN" dirty="0">
              <a:solidFill>
                <a:srgbClr val="FF0000"/>
              </a:solidFill>
            </a:endParaRPr>
          </a:p>
        </p:txBody>
      </p:sp>
      <p:pic>
        <p:nvPicPr>
          <p:cNvPr id="6" name="Content Placeholder 5">
            <a:extLst>
              <a:ext uri="{FF2B5EF4-FFF2-40B4-BE49-F238E27FC236}">
                <a16:creationId xmlns:a16="http://schemas.microsoft.com/office/drawing/2014/main" id="{B6B02D08-5A96-64E6-F75A-0E07A0550CB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0629" y="1094468"/>
            <a:ext cx="6705600" cy="5317218"/>
          </a:xfrm>
        </p:spPr>
      </p:pic>
      <p:sp>
        <p:nvSpPr>
          <p:cNvPr id="4" name="Content Placeholder 3">
            <a:extLst>
              <a:ext uri="{FF2B5EF4-FFF2-40B4-BE49-F238E27FC236}">
                <a16:creationId xmlns:a16="http://schemas.microsoft.com/office/drawing/2014/main" id="{58241935-765D-BD87-D98D-613A6C39E93D}"/>
              </a:ext>
            </a:extLst>
          </p:cNvPr>
          <p:cNvSpPr>
            <a:spLocks noGrp="1"/>
          </p:cNvSpPr>
          <p:nvPr>
            <p:ph sz="half" idx="2"/>
          </p:nvPr>
        </p:nvSpPr>
        <p:spPr>
          <a:xfrm>
            <a:off x="7086600" y="1175658"/>
            <a:ext cx="4974771" cy="5317218"/>
          </a:xfrm>
        </p:spPr>
        <p:txBody>
          <a:bodyPr>
            <a:noAutofit/>
          </a:bodyPr>
          <a:lstStyle/>
          <a:p>
            <a:r>
              <a:rPr lang="en-US" sz="2000" b="1" dirty="0">
                <a:latin typeface="Comic Sans MS" panose="030F0702030302020204" pitchFamily="66" charset="0"/>
              </a:rPr>
              <a:t>2002–2012:</a:t>
            </a:r>
            <a:br>
              <a:rPr lang="en-US" sz="2000" dirty="0">
                <a:latin typeface="Comic Sans MS" panose="030F0702030302020204" pitchFamily="66" charset="0"/>
              </a:rPr>
            </a:br>
            <a:r>
              <a:rPr lang="en-US" sz="2000" dirty="0">
                <a:latin typeface="Comic Sans MS" panose="030F0702030302020204" pitchFamily="66" charset="0"/>
              </a:rPr>
              <a:t>Gradual and steady increase in dividends — reflects stable growth.</a:t>
            </a:r>
          </a:p>
          <a:p>
            <a:r>
              <a:rPr lang="en-US" sz="2000" b="1" dirty="0">
                <a:latin typeface="Comic Sans MS" panose="030F0702030302020204" pitchFamily="66" charset="0"/>
              </a:rPr>
              <a:t>2013–2014:</a:t>
            </a:r>
            <a:br>
              <a:rPr lang="en-US" sz="2000" dirty="0">
                <a:latin typeface="Comic Sans MS" panose="030F0702030302020204" pitchFamily="66" charset="0"/>
              </a:rPr>
            </a:br>
            <a:r>
              <a:rPr lang="en-US" sz="2000" dirty="0">
                <a:latin typeface="Comic Sans MS" panose="030F0702030302020204" pitchFamily="66" charset="0"/>
              </a:rPr>
              <a:t>Sharp surge in payouts — likely due to high profits or strategic decision.</a:t>
            </a:r>
          </a:p>
          <a:p>
            <a:r>
              <a:rPr lang="en-US" sz="2000" b="1" dirty="0">
                <a:solidFill>
                  <a:srgbClr val="FF0000"/>
                </a:solidFill>
                <a:latin typeface="Comic Sans MS" panose="030F0702030302020204" pitchFamily="66" charset="0"/>
              </a:rPr>
              <a:t>2018–2019:</a:t>
            </a:r>
            <a:br>
              <a:rPr lang="en-US" sz="2000" dirty="0">
                <a:solidFill>
                  <a:srgbClr val="FF0000"/>
                </a:solidFill>
                <a:latin typeface="Comic Sans MS" panose="030F0702030302020204" pitchFamily="66" charset="0"/>
              </a:rPr>
            </a:br>
            <a:r>
              <a:rPr lang="en-US" sz="2000" dirty="0">
                <a:solidFill>
                  <a:srgbClr val="FF0000"/>
                </a:solidFill>
                <a:latin typeface="Comic Sans MS" panose="030F0702030302020204" pitchFamily="66" charset="0"/>
              </a:rPr>
              <a:t>Major peak in 2019 — highest dividend, possibly a special payout.</a:t>
            </a:r>
          </a:p>
          <a:p>
            <a:r>
              <a:rPr lang="en-US" sz="2000" b="1" dirty="0">
                <a:solidFill>
                  <a:srgbClr val="FF0000"/>
                </a:solidFill>
                <a:latin typeface="Comic Sans MS" panose="030F0702030302020204" pitchFamily="66" charset="0"/>
              </a:rPr>
              <a:t>2020–2021:</a:t>
            </a:r>
            <a:br>
              <a:rPr lang="en-US" sz="2000" dirty="0">
                <a:solidFill>
                  <a:srgbClr val="FF0000"/>
                </a:solidFill>
                <a:latin typeface="Comic Sans MS" panose="030F0702030302020204" pitchFamily="66" charset="0"/>
              </a:rPr>
            </a:br>
            <a:r>
              <a:rPr lang="en-US" sz="2000" dirty="0">
                <a:solidFill>
                  <a:srgbClr val="FF0000"/>
                </a:solidFill>
                <a:latin typeface="Comic Sans MS" panose="030F0702030302020204" pitchFamily="66" charset="0"/>
              </a:rPr>
              <a:t>Decline after the peak — but still higher than earlier years.</a:t>
            </a:r>
          </a:p>
          <a:p>
            <a:r>
              <a:rPr lang="en-US" sz="2000" b="1" dirty="0">
                <a:latin typeface="Comic Sans MS" panose="030F0702030302020204" pitchFamily="66" charset="0"/>
              </a:rPr>
              <a:t>Overall Insight:</a:t>
            </a:r>
            <a:br>
              <a:rPr lang="en-US" sz="2000" dirty="0">
                <a:latin typeface="Comic Sans MS" panose="030F0702030302020204" pitchFamily="66" charset="0"/>
              </a:rPr>
            </a:br>
            <a:r>
              <a:rPr lang="en-US" sz="2000" dirty="0">
                <a:latin typeface="Comic Sans MS" panose="030F0702030302020204" pitchFamily="66" charset="0"/>
              </a:rPr>
              <a:t>Consistent dividend growth with occasional sharp increases indicating profitability and strategic distribution.</a:t>
            </a:r>
          </a:p>
          <a:p>
            <a:endParaRPr lang="en-IN" sz="2000" dirty="0">
              <a:latin typeface="Comic Sans MS" panose="030F0702030302020204" pitchFamily="66" charset="0"/>
            </a:endParaRPr>
          </a:p>
        </p:txBody>
      </p:sp>
    </p:spTree>
    <p:extLst>
      <p:ext uri="{BB962C8B-B14F-4D97-AF65-F5344CB8AC3E}">
        <p14:creationId xmlns:p14="http://schemas.microsoft.com/office/powerpoint/2010/main" val="438191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37E2E-10BA-F888-3D78-38C0373A0365}"/>
              </a:ext>
            </a:extLst>
          </p:cNvPr>
          <p:cNvSpPr>
            <a:spLocks noGrp="1"/>
          </p:cNvSpPr>
          <p:nvPr>
            <p:ph type="title"/>
          </p:nvPr>
        </p:nvSpPr>
        <p:spPr>
          <a:xfrm>
            <a:off x="0" y="130629"/>
            <a:ext cx="11865428" cy="631371"/>
          </a:xfrm>
        </p:spPr>
        <p:txBody>
          <a:bodyPr>
            <a:normAutofit fontScale="90000"/>
          </a:bodyPr>
          <a:lstStyle/>
          <a:p>
            <a:r>
              <a:rPr lang="en-US" sz="3600" b="1" dirty="0">
                <a:solidFill>
                  <a:srgbClr val="FF0000"/>
                </a:solidFill>
                <a:latin typeface="Comic Sans MS" panose="030F0702030302020204" pitchFamily="66" charset="0"/>
              </a:rPr>
              <a:t>6.1 Maximum Dividends Paid by the TCS Stock Over Years</a:t>
            </a:r>
            <a:endParaRPr lang="en-IN" sz="3600" b="1" dirty="0">
              <a:solidFill>
                <a:srgbClr val="FF0000"/>
              </a:solidFill>
              <a:latin typeface="Comic Sans MS" panose="030F0702030302020204" pitchFamily="66" charset="0"/>
            </a:endParaRPr>
          </a:p>
        </p:txBody>
      </p:sp>
      <p:pic>
        <p:nvPicPr>
          <p:cNvPr id="7" name="Content Placeholder 6">
            <a:extLst>
              <a:ext uri="{FF2B5EF4-FFF2-40B4-BE49-F238E27FC236}">
                <a16:creationId xmlns:a16="http://schemas.microsoft.com/office/drawing/2014/main" id="{5FF4D6EE-FE38-3740-ADD1-054920EA1B2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1288" y="1046641"/>
            <a:ext cx="7065055" cy="5680729"/>
          </a:xfrm>
        </p:spPr>
      </p:pic>
      <p:sp>
        <p:nvSpPr>
          <p:cNvPr id="5" name="Rectangle 1">
            <a:extLst>
              <a:ext uri="{FF2B5EF4-FFF2-40B4-BE49-F238E27FC236}">
                <a16:creationId xmlns:a16="http://schemas.microsoft.com/office/drawing/2014/main" id="{359B3F16-79CB-561F-15A1-19AA821A457F}"/>
              </a:ext>
            </a:extLst>
          </p:cNvPr>
          <p:cNvSpPr>
            <a:spLocks noGrp="1" noChangeArrowheads="1"/>
          </p:cNvSpPr>
          <p:nvPr>
            <p:ph sz="half" idx="2"/>
          </p:nvPr>
        </p:nvSpPr>
        <p:spPr bwMode="auto">
          <a:xfrm>
            <a:off x="7304314" y="1046641"/>
            <a:ext cx="4561114"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Overall Growth:</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0" i="0" u="none" strike="noStrike" cap="none" normalizeH="0" baseline="0" dirty="0">
                <a:ln>
                  <a:noFill/>
                </a:ln>
                <a:solidFill>
                  <a:schemeClr val="tx1"/>
                </a:solidFill>
                <a:effectLst/>
                <a:latin typeface="Comic Sans MS" panose="030F0702030302020204" pitchFamily="66" charset="0"/>
              </a:rPr>
              <a:t>Gradual increase in maximum dividends over time — shows rising profitability and confidence.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Major Peaks:</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0" i="0" u="none" strike="noStrike" cap="none" normalizeH="0" baseline="0" dirty="0">
                <a:ln>
                  <a:noFill/>
                </a:ln>
                <a:solidFill>
                  <a:schemeClr val="tx1"/>
                </a:solidFill>
                <a:effectLst/>
                <a:latin typeface="Comic Sans MS" panose="030F0702030302020204" pitchFamily="66" charset="0"/>
              </a:rPr>
              <a:t>Highest dividend in </a:t>
            </a:r>
            <a:r>
              <a:rPr kumimoji="0" lang="en-US" altLang="en-US" sz="1800" b="1" i="0" u="none" strike="noStrike" cap="none" normalizeH="0" baseline="0" dirty="0">
                <a:ln>
                  <a:noFill/>
                </a:ln>
                <a:solidFill>
                  <a:schemeClr val="tx1"/>
                </a:solidFill>
                <a:effectLst/>
                <a:latin typeface="Comic Sans MS" panose="030F0702030302020204" pitchFamily="66" charset="0"/>
              </a:rPr>
              <a:t>2019</a:t>
            </a:r>
            <a:r>
              <a:rPr kumimoji="0" lang="en-US" altLang="en-US" sz="1800" b="0" i="0" u="none" strike="noStrike" cap="none" normalizeH="0" baseline="0" dirty="0">
                <a:ln>
                  <a:noFill/>
                </a:ln>
                <a:solidFill>
                  <a:schemeClr val="tx1"/>
                </a:solidFill>
                <a:effectLst/>
                <a:latin typeface="Comic Sans MS" panose="030F0702030302020204" pitchFamily="66" charset="0"/>
              </a:rPr>
              <a:t>, indicating exceptional performance or strategic payout.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Notable Spikes:</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0" i="0" u="none" strike="noStrike" cap="none" normalizeH="0" baseline="0" dirty="0">
                <a:ln>
                  <a:noFill/>
                </a:ln>
                <a:solidFill>
                  <a:schemeClr val="tx1"/>
                </a:solidFill>
                <a:effectLst/>
                <a:latin typeface="Comic Sans MS" panose="030F0702030302020204" pitchFamily="66" charset="0"/>
              </a:rPr>
              <a:t>Significant jumps in </a:t>
            </a:r>
            <a:r>
              <a:rPr kumimoji="0" lang="en-US" altLang="en-US" sz="1800" b="1" i="0" u="none" strike="noStrike" cap="none" normalizeH="0" baseline="0" dirty="0">
                <a:ln>
                  <a:noFill/>
                </a:ln>
                <a:solidFill>
                  <a:schemeClr val="tx1"/>
                </a:solidFill>
                <a:effectLst/>
                <a:latin typeface="Comic Sans MS" panose="030F0702030302020204" pitchFamily="66" charset="0"/>
              </a:rPr>
              <a:t>2013</a:t>
            </a:r>
            <a:r>
              <a:rPr kumimoji="0" lang="en-US" altLang="en-US" sz="1800" b="0" i="0" u="none" strike="noStrike" cap="none" normalizeH="0" baseline="0" dirty="0">
                <a:ln>
                  <a:noFill/>
                </a:ln>
                <a:solidFill>
                  <a:schemeClr val="tx1"/>
                </a:solidFill>
                <a:effectLst/>
                <a:latin typeface="Comic Sans MS" panose="030F0702030302020204" pitchFamily="66" charset="0"/>
              </a:rPr>
              <a:t> (₹20) and </a:t>
            </a:r>
            <a:r>
              <a:rPr kumimoji="0" lang="en-US" altLang="en-US" sz="1800" b="1" i="0" u="none" strike="noStrike" cap="none" normalizeH="0" baseline="0" dirty="0">
                <a:ln>
                  <a:noFill/>
                </a:ln>
                <a:solidFill>
                  <a:schemeClr val="tx1"/>
                </a:solidFill>
                <a:effectLst/>
                <a:latin typeface="Comic Sans MS" panose="030F0702030302020204" pitchFamily="66" charset="0"/>
              </a:rPr>
              <a:t>2019</a:t>
            </a:r>
            <a:r>
              <a:rPr kumimoji="0" lang="en-US" altLang="en-US" sz="1800" b="0" i="0" u="none" strike="noStrike" cap="none" normalizeH="0" baseline="0" dirty="0">
                <a:ln>
                  <a:noFill/>
                </a:ln>
                <a:solidFill>
                  <a:schemeClr val="tx1"/>
                </a:solidFill>
                <a:effectLst/>
                <a:latin typeface="Comic Sans MS" panose="030F0702030302020204" pitchFamily="66" charset="0"/>
              </a:rPr>
              <a:t> (₹40) — standout years.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mic Sans MS" panose="030F0702030302020204" pitchFamily="66" charset="0"/>
              </a:rPr>
              <a:t>Yearly Variations:</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0" i="0" u="none" strike="noStrike" cap="none" normalizeH="0" baseline="0" dirty="0">
                <a:ln>
                  <a:noFill/>
                </a:ln>
                <a:solidFill>
                  <a:schemeClr val="tx1"/>
                </a:solidFill>
                <a:effectLst/>
                <a:latin typeface="Comic Sans MS" panose="030F0702030302020204" pitchFamily="66" charset="0"/>
              </a:rPr>
              <a:t>Moderate increases (e.g., 2016–2018) vs. sharp rises (e.g., 2013, 2019).</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Comic Sans MS" panose="030F0702030302020204" pitchFamily="66" charset="0"/>
              </a:rPr>
              <a:t>Recent Years:</a:t>
            </a:r>
            <a:br>
              <a:rPr kumimoji="0" lang="en-US" altLang="en-US" sz="1800" b="0" i="0" u="none" strike="noStrike" cap="none" normalizeH="0" baseline="0" dirty="0">
                <a:ln>
                  <a:noFill/>
                </a:ln>
                <a:solidFill>
                  <a:schemeClr val="tx1"/>
                </a:solidFill>
                <a:effectLst/>
                <a:latin typeface="Comic Sans MS" panose="030F0702030302020204" pitchFamily="66" charset="0"/>
              </a:rPr>
            </a:br>
            <a:r>
              <a:rPr kumimoji="0" lang="en-US" altLang="en-US" sz="1800" b="0" i="0" u="none" strike="noStrike" cap="none" normalizeH="0" baseline="0" dirty="0">
                <a:ln>
                  <a:noFill/>
                </a:ln>
                <a:solidFill>
                  <a:schemeClr val="tx1"/>
                </a:solidFill>
                <a:effectLst/>
                <a:latin typeface="Comic Sans MS" panose="030F0702030302020204" pitchFamily="66" charset="0"/>
              </a:rPr>
              <a:t>Sharp drop in 2020, slight recovery in 2021 — reflects fluctuating profits or strategy shifts.</a:t>
            </a:r>
          </a:p>
        </p:txBody>
      </p:sp>
    </p:spTree>
    <p:extLst>
      <p:ext uri="{BB962C8B-B14F-4D97-AF65-F5344CB8AC3E}">
        <p14:creationId xmlns:p14="http://schemas.microsoft.com/office/powerpoint/2010/main" val="3331006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7743-3B5D-4D8A-5825-2F18827C7A14}"/>
              </a:ext>
            </a:extLst>
          </p:cNvPr>
          <p:cNvSpPr>
            <a:spLocks noGrp="1"/>
          </p:cNvSpPr>
          <p:nvPr>
            <p:ph type="title"/>
          </p:nvPr>
        </p:nvSpPr>
        <p:spPr>
          <a:xfrm>
            <a:off x="315686" y="365126"/>
            <a:ext cx="11038114" cy="886732"/>
          </a:xfrm>
        </p:spPr>
        <p:txBody>
          <a:bodyPr>
            <a:normAutofit fontScale="90000"/>
          </a:bodyPr>
          <a:lstStyle/>
          <a:p>
            <a:r>
              <a:rPr lang="en-US" sz="3600" b="1" dirty="0">
                <a:solidFill>
                  <a:srgbClr val="FF0000"/>
                </a:solidFill>
                <a:latin typeface="Comic Sans MS" panose="030F0702030302020204" pitchFamily="66" charset="0"/>
              </a:rPr>
              <a:t> 7.Distribution of TCS Stock Split over years</a:t>
            </a:r>
            <a:br>
              <a:rPr lang="en-US" sz="3600" b="1" dirty="0">
                <a:solidFill>
                  <a:srgbClr val="FF0000"/>
                </a:solidFill>
                <a:latin typeface="Comic Sans MS" panose="030F0702030302020204" pitchFamily="66" charset="0"/>
              </a:rPr>
            </a:br>
            <a:endParaRPr lang="en-IN" sz="3600"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D7BD2105-8B6A-5789-85F2-52CD9DFC0B8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0175" y="1306286"/>
            <a:ext cx="7456488" cy="5410199"/>
          </a:xfrm>
        </p:spPr>
      </p:pic>
      <p:sp>
        <p:nvSpPr>
          <p:cNvPr id="4" name="Content Placeholder 3">
            <a:extLst>
              <a:ext uri="{FF2B5EF4-FFF2-40B4-BE49-F238E27FC236}">
                <a16:creationId xmlns:a16="http://schemas.microsoft.com/office/drawing/2014/main" id="{51888FB5-4BF8-9895-34B6-533A8DD13D90}"/>
              </a:ext>
            </a:extLst>
          </p:cNvPr>
          <p:cNvSpPr>
            <a:spLocks noGrp="1"/>
          </p:cNvSpPr>
          <p:nvPr>
            <p:ph sz="half" idx="2"/>
          </p:nvPr>
        </p:nvSpPr>
        <p:spPr>
          <a:xfrm>
            <a:off x="7826828" y="1306286"/>
            <a:ext cx="4147457" cy="5410200"/>
          </a:xfrm>
        </p:spPr>
        <p:txBody>
          <a:bodyPr/>
          <a:lstStyle/>
          <a:p>
            <a:r>
              <a:rPr lang="en-US" dirty="0">
                <a:latin typeface="Comic Sans MS" panose="030F0702030302020204" pitchFamily="66" charset="0"/>
              </a:rPr>
              <a:t>The line graph shows that the </a:t>
            </a:r>
            <a:r>
              <a:rPr lang="en-US" dirty="0">
                <a:solidFill>
                  <a:srgbClr val="FF0000"/>
                </a:solidFill>
                <a:latin typeface="Comic Sans MS" panose="030F0702030302020204" pitchFamily="66" charset="0"/>
              </a:rPr>
              <a:t>TCS stock split ratio remained constant at 2.00 from 2006 to 2018</a:t>
            </a:r>
            <a:r>
              <a:rPr lang="en-US" dirty="0">
                <a:latin typeface="Comic Sans MS" panose="030F0702030302020204" pitchFamily="66" charset="0"/>
              </a:rPr>
              <a:t>. This indicates that TCS has not changed its stock split ratio during these years, reflecting a stable approach to stock split policy over this period.</a:t>
            </a:r>
            <a:endParaRPr lang="en-IN" dirty="0">
              <a:latin typeface="Comic Sans MS" panose="030F0702030302020204" pitchFamily="66" charset="0"/>
            </a:endParaRPr>
          </a:p>
        </p:txBody>
      </p:sp>
    </p:spTree>
    <p:extLst>
      <p:ext uri="{BB962C8B-B14F-4D97-AF65-F5344CB8AC3E}">
        <p14:creationId xmlns:p14="http://schemas.microsoft.com/office/powerpoint/2010/main" val="3812377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9864-2683-AA2B-7B2C-296027C806EF}"/>
              </a:ext>
            </a:extLst>
          </p:cNvPr>
          <p:cNvSpPr>
            <a:spLocks noGrp="1"/>
          </p:cNvSpPr>
          <p:nvPr>
            <p:ph type="title"/>
          </p:nvPr>
        </p:nvSpPr>
        <p:spPr>
          <a:xfrm>
            <a:off x="370114" y="195943"/>
            <a:ext cx="10983686" cy="772886"/>
          </a:xfrm>
        </p:spPr>
        <p:txBody>
          <a:bodyPr>
            <a:normAutofit fontScale="90000"/>
          </a:bodyPr>
          <a:lstStyle/>
          <a:p>
            <a:r>
              <a:rPr lang="en-US" b="1" dirty="0">
                <a:solidFill>
                  <a:srgbClr val="FF0000"/>
                </a:solidFill>
                <a:latin typeface="Comic Sans MS" panose="030F0702030302020204" pitchFamily="66" charset="0"/>
              </a:rPr>
              <a:t>8.  Stock Prices Trend Distribution.</a:t>
            </a:r>
            <a:br>
              <a:rPr lang="en-US" b="1" dirty="0">
                <a:solidFill>
                  <a:srgbClr val="FF0000"/>
                </a:solidFill>
                <a:latin typeface="Comic Sans MS" panose="030F0702030302020204" pitchFamily="66" charset="0"/>
              </a:rPr>
            </a:br>
            <a:endParaRPr lang="en-IN"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47723577-3232-49E3-E6DD-33C49AAD5C2E}"/>
              </a:ext>
            </a:extLst>
          </p:cNvPr>
          <p:cNvPicPr>
            <a:picLocks noGrp="1" noChangeAspect="1"/>
          </p:cNvPicPr>
          <p:nvPr>
            <p:ph sz="half" idx="1"/>
          </p:nvPr>
        </p:nvPicPr>
        <p:blipFill>
          <a:blip r:embed="rId2"/>
          <a:stretch>
            <a:fillRect/>
          </a:stretch>
        </p:blipFill>
        <p:spPr>
          <a:xfrm>
            <a:off x="195943" y="1164772"/>
            <a:ext cx="6955972" cy="5497286"/>
          </a:xfrm>
        </p:spPr>
      </p:pic>
      <p:sp>
        <p:nvSpPr>
          <p:cNvPr id="10" name="Content Placeholder 9">
            <a:extLst>
              <a:ext uri="{FF2B5EF4-FFF2-40B4-BE49-F238E27FC236}">
                <a16:creationId xmlns:a16="http://schemas.microsoft.com/office/drawing/2014/main" id="{7699A214-7134-BE10-19D4-74A64C680289}"/>
              </a:ext>
            </a:extLst>
          </p:cNvPr>
          <p:cNvSpPr>
            <a:spLocks noGrp="1"/>
          </p:cNvSpPr>
          <p:nvPr>
            <p:ph sz="half" idx="2"/>
          </p:nvPr>
        </p:nvSpPr>
        <p:spPr>
          <a:xfrm>
            <a:off x="7489371" y="1284514"/>
            <a:ext cx="4430485" cy="5377543"/>
          </a:xfrm>
        </p:spPr>
        <p:txBody>
          <a:bodyPr>
            <a:normAutofit fontScale="92500" lnSpcReduction="10000"/>
          </a:bodyPr>
          <a:lstStyle/>
          <a:p>
            <a:r>
              <a:rPr lang="en-US" b="1" dirty="0">
                <a:latin typeface="Comic Sans MS" panose="030F0702030302020204" pitchFamily="66" charset="0"/>
              </a:rPr>
              <a:t>Trend Distribution Summary</a:t>
            </a:r>
          </a:p>
          <a:p>
            <a:r>
              <a:rPr lang="en-US" b="1" dirty="0">
                <a:latin typeface="Comic Sans MS" panose="030F0702030302020204" pitchFamily="66" charset="0"/>
              </a:rPr>
              <a:t>Most Frequent:</a:t>
            </a:r>
            <a:br>
              <a:rPr lang="en-US" dirty="0">
                <a:latin typeface="Comic Sans MS" panose="030F0702030302020204" pitchFamily="66" charset="0"/>
              </a:rPr>
            </a:br>
            <a:r>
              <a:rPr lang="en-US" b="1" dirty="0">
                <a:solidFill>
                  <a:srgbClr val="FF0000"/>
                </a:solidFill>
                <a:latin typeface="Comic Sans MS" panose="030F0702030302020204" pitchFamily="66" charset="0"/>
              </a:rPr>
              <a:t>"Down"</a:t>
            </a:r>
            <a:r>
              <a:rPr lang="en-US" dirty="0">
                <a:solidFill>
                  <a:srgbClr val="FF0000"/>
                </a:solidFill>
                <a:latin typeface="Comic Sans MS" panose="030F0702030302020204" pitchFamily="66" charset="0"/>
              </a:rPr>
              <a:t> trend dominates with </a:t>
            </a:r>
            <a:r>
              <a:rPr lang="en-US" b="1" dirty="0">
                <a:solidFill>
                  <a:srgbClr val="FF0000"/>
                </a:solidFill>
                <a:latin typeface="Comic Sans MS" panose="030F0702030302020204" pitchFamily="66" charset="0"/>
              </a:rPr>
              <a:t>2,330</a:t>
            </a:r>
            <a:r>
              <a:rPr lang="en-US" dirty="0">
                <a:solidFill>
                  <a:srgbClr val="FF0000"/>
                </a:solidFill>
                <a:latin typeface="Comic Sans MS" panose="030F0702030302020204" pitchFamily="66" charset="0"/>
              </a:rPr>
              <a:t> occurrences </a:t>
            </a:r>
            <a:r>
              <a:rPr lang="en-US" dirty="0">
                <a:latin typeface="Comic Sans MS" panose="030F0702030302020204" pitchFamily="66" charset="0"/>
              </a:rPr>
              <a:t>— indicates frequent declines.</a:t>
            </a:r>
          </a:p>
          <a:p>
            <a:r>
              <a:rPr lang="en-US" b="1" dirty="0">
                <a:latin typeface="Comic Sans MS" panose="030F0702030302020204" pitchFamily="66" charset="0"/>
              </a:rPr>
              <a:t>Second Highest:</a:t>
            </a:r>
            <a:br>
              <a:rPr lang="en-US" dirty="0">
                <a:latin typeface="Comic Sans MS" panose="030F0702030302020204" pitchFamily="66" charset="0"/>
              </a:rPr>
            </a:br>
            <a:r>
              <a:rPr lang="en-US" b="1" dirty="0">
                <a:latin typeface="Comic Sans MS" panose="030F0702030302020204" pitchFamily="66" charset="0"/>
              </a:rPr>
              <a:t>"</a:t>
            </a:r>
            <a:r>
              <a:rPr lang="en-US" b="1" dirty="0">
                <a:solidFill>
                  <a:srgbClr val="FF0000"/>
                </a:solidFill>
                <a:latin typeface="Comic Sans MS" panose="030F0702030302020204" pitchFamily="66" charset="0"/>
              </a:rPr>
              <a:t>Up"</a:t>
            </a:r>
            <a:r>
              <a:rPr lang="en-US" dirty="0">
                <a:solidFill>
                  <a:srgbClr val="FF0000"/>
                </a:solidFill>
                <a:latin typeface="Comic Sans MS" panose="030F0702030302020204" pitchFamily="66" charset="0"/>
              </a:rPr>
              <a:t> trend appears </a:t>
            </a:r>
            <a:r>
              <a:rPr lang="en-US" b="1" dirty="0">
                <a:solidFill>
                  <a:srgbClr val="FF0000"/>
                </a:solidFill>
                <a:latin typeface="Comic Sans MS" panose="030F0702030302020204" pitchFamily="66" charset="0"/>
              </a:rPr>
              <a:t>2,097</a:t>
            </a:r>
            <a:r>
              <a:rPr lang="en-US" dirty="0">
                <a:solidFill>
                  <a:srgbClr val="FF0000"/>
                </a:solidFill>
                <a:latin typeface="Comic Sans MS" panose="030F0702030302020204" pitchFamily="66" charset="0"/>
              </a:rPr>
              <a:t> times </a:t>
            </a:r>
            <a:r>
              <a:rPr lang="en-US" dirty="0">
                <a:latin typeface="Comic Sans MS" panose="030F0702030302020204" pitchFamily="66" charset="0"/>
              </a:rPr>
              <a:t>— shows many upward movements.</a:t>
            </a:r>
          </a:p>
          <a:p>
            <a:r>
              <a:rPr lang="en-US" b="1" dirty="0">
                <a:latin typeface="Comic Sans MS" panose="030F0702030302020204" pitchFamily="66" charset="0"/>
              </a:rPr>
              <a:t>Least Common:</a:t>
            </a:r>
            <a:br>
              <a:rPr lang="en-US" dirty="0">
                <a:latin typeface="Comic Sans MS" panose="030F0702030302020204" pitchFamily="66" charset="0"/>
              </a:rPr>
            </a:br>
            <a:r>
              <a:rPr lang="en-US" b="1" dirty="0">
                <a:solidFill>
                  <a:srgbClr val="FF0000"/>
                </a:solidFill>
                <a:latin typeface="Comic Sans MS" panose="030F0702030302020204" pitchFamily="66" charset="0"/>
              </a:rPr>
              <a:t>"No Change"</a:t>
            </a:r>
            <a:r>
              <a:rPr lang="en-US" dirty="0">
                <a:solidFill>
                  <a:srgbClr val="FF0000"/>
                </a:solidFill>
                <a:latin typeface="Comic Sans MS" panose="030F0702030302020204" pitchFamily="66" charset="0"/>
              </a:rPr>
              <a:t> has only </a:t>
            </a:r>
            <a:r>
              <a:rPr lang="en-US" b="1" dirty="0">
                <a:solidFill>
                  <a:srgbClr val="FF0000"/>
                </a:solidFill>
                <a:latin typeface="Comic Sans MS" panose="030F0702030302020204" pitchFamily="66" charset="0"/>
              </a:rPr>
              <a:t>36</a:t>
            </a:r>
            <a:r>
              <a:rPr lang="en-US" dirty="0">
                <a:solidFill>
                  <a:srgbClr val="FF0000"/>
                </a:solidFill>
                <a:latin typeface="Comic Sans MS" panose="030F0702030302020204" pitchFamily="66" charset="0"/>
              </a:rPr>
              <a:t> instances </a:t>
            </a:r>
            <a:r>
              <a:rPr lang="en-US" dirty="0">
                <a:latin typeface="Comic Sans MS" panose="030F0702030302020204" pitchFamily="66" charset="0"/>
              </a:rPr>
              <a:t>— stability is rare.</a:t>
            </a:r>
          </a:p>
          <a:p>
            <a:endParaRPr lang="en-IN" dirty="0">
              <a:latin typeface="Comic Sans MS" panose="030F0702030302020204" pitchFamily="66" charset="0"/>
            </a:endParaRPr>
          </a:p>
        </p:txBody>
      </p:sp>
    </p:spTree>
    <p:extLst>
      <p:ext uri="{BB962C8B-B14F-4D97-AF65-F5344CB8AC3E}">
        <p14:creationId xmlns:p14="http://schemas.microsoft.com/office/powerpoint/2010/main" val="3607375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816D-BEBC-C598-B5FB-A57B10F20BBF}"/>
              </a:ext>
            </a:extLst>
          </p:cNvPr>
          <p:cNvSpPr>
            <a:spLocks noGrp="1"/>
          </p:cNvSpPr>
          <p:nvPr>
            <p:ph type="title"/>
          </p:nvPr>
        </p:nvSpPr>
        <p:spPr>
          <a:xfrm>
            <a:off x="130630" y="107498"/>
            <a:ext cx="11224758" cy="861332"/>
          </a:xfrm>
        </p:spPr>
        <p:txBody>
          <a:bodyPr/>
          <a:lstStyle/>
          <a:p>
            <a:r>
              <a:rPr lang="en-US" b="1" dirty="0">
                <a:solidFill>
                  <a:srgbClr val="FF0000"/>
                </a:solidFill>
                <a:latin typeface="Comic Sans MS" panose="030F0702030302020204" pitchFamily="66" charset="0"/>
              </a:rPr>
              <a:t>9.Insight:</a:t>
            </a:r>
            <a:endParaRPr lang="en-IN" b="1" dirty="0">
              <a:solidFill>
                <a:srgbClr val="FF0000"/>
              </a:solidFill>
              <a:latin typeface="Comic Sans MS" panose="030F0702030302020204" pitchFamily="66" charset="0"/>
            </a:endParaRPr>
          </a:p>
        </p:txBody>
      </p:sp>
      <p:sp>
        <p:nvSpPr>
          <p:cNvPr id="3" name="Text Placeholder 2">
            <a:extLst>
              <a:ext uri="{FF2B5EF4-FFF2-40B4-BE49-F238E27FC236}">
                <a16:creationId xmlns:a16="http://schemas.microsoft.com/office/drawing/2014/main" id="{2F4D63D3-7E37-426E-3C4D-DDC3F7869CA0}"/>
              </a:ext>
            </a:extLst>
          </p:cNvPr>
          <p:cNvSpPr>
            <a:spLocks noGrp="1"/>
          </p:cNvSpPr>
          <p:nvPr>
            <p:ph type="body" idx="1"/>
          </p:nvPr>
        </p:nvSpPr>
        <p:spPr>
          <a:xfrm>
            <a:off x="130630" y="1175658"/>
            <a:ext cx="5889172" cy="1153885"/>
          </a:xfrm>
        </p:spPr>
        <p:txBody>
          <a:bodyPr>
            <a:normAutofit lnSpcReduction="10000"/>
          </a:bodyPr>
          <a:lstStyle/>
          <a:p>
            <a:r>
              <a:rPr lang="en-US" dirty="0">
                <a:solidFill>
                  <a:srgbClr val="FF0000"/>
                </a:solidFill>
                <a:latin typeface="Comic Sans MS" panose="030F0702030302020204" pitchFamily="66" charset="0"/>
              </a:rPr>
              <a:t>9.1For how many days Closing price and Low price of Stock Were Same:</a:t>
            </a:r>
          </a:p>
          <a:p>
            <a:endParaRPr lang="en-IN" dirty="0">
              <a:solidFill>
                <a:srgbClr val="FF0000"/>
              </a:solidFill>
              <a:latin typeface="Comic Sans MS" panose="030F0702030302020204" pitchFamily="66" charset="0"/>
            </a:endParaRPr>
          </a:p>
        </p:txBody>
      </p:sp>
      <p:sp>
        <p:nvSpPr>
          <p:cNvPr id="4" name="Content Placeholder 3">
            <a:extLst>
              <a:ext uri="{FF2B5EF4-FFF2-40B4-BE49-F238E27FC236}">
                <a16:creationId xmlns:a16="http://schemas.microsoft.com/office/drawing/2014/main" id="{0128A2C0-01F6-0201-B0AE-8A5C82E3183B}"/>
              </a:ext>
            </a:extLst>
          </p:cNvPr>
          <p:cNvSpPr>
            <a:spLocks noGrp="1"/>
          </p:cNvSpPr>
          <p:nvPr>
            <p:ph sz="half" idx="2"/>
          </p:nvPr>
        </p:nvSpPr>
        <p:spPr>
          <a:xfrm>
            <a:off x="130630" y="2177144"/>
            <a:ext cx="5866946" cy="4315730"/>
          </a:xfrm>
        </p:spPr>
        <p:txBody>
          <a:bodyPr>
            <a:normAutofit fontScale="92500" lnSpcReduction="10000"/>
          </a:bodyPr>
          <a:lstStyle/>
          <a:p>
            <a:r>
              <a:rPr lang="en-US" dirty="0">
                <a:latin typeface="Comic Sans MS" panose="030F0702030302020204" pitchFamily="66" charset="0"/>
              </a:rPr>
              <a:t>There </a:t>
            </a:r>
            <a:r>
              <a:rPr lang="en-US" dirty="0">
                <a:solidFill>
                  <a:srgbClr val="FF0000"/>
                </a:solidFill>
                <a:latin typeface="Comic Sans MS" panose="030F0702030302020204" pitchFamily="66" charset="0"/>
              </a:rPr>
              <a:t>are 25 days </a:t>
            </a:r>
            <a:r>
              <a:rPr lang="en-US" dirty="0">
                <a:latin typeface="Comic Sans MS" panose="030F0702030302020204" pitchFamily="66" charset="0"/>
              </a:rPr>
              <a:t>when closing and low price were same.</a:t>
            </a:r>
          </a:p>
          <a:p>
            <a:endParaRPr lang="en-US" dirty="0">
              <a:latin typeface="Comic Sans MS" panose="030F0702030302020204" pitchFamily="66" charset="0"/>
            </a:endParaRPr>
          </a:p>
          <a:p>
            <a:pPr marL="0" indent="0">
              <a:buNone/>
            </a:pPr>
            <a:r>
              <a:rPr lang="en-US" dirty="0">
                <a:latin typeface="Comic Sans MS" panose="030F0702030302020204" pitchFamily="66" charset="0"/>
              </a:rPr>
              <a:t>  # INSIGHT</a:t>
            </a:r>
          </a:p>
          <a:p>
            <a:r>
              <a:rPr lang="en-US" dirty="0">
                <a:latin typeface="Comic Sans MS" panose="030F0702030302020204" pitchFamily="66" charset="0"/>
              </a:rPr>
              <a:t>The </a:t>
            </a:r>
            <a:r>
              <a:rPr lang="en-US" dirty="0">
                <a:solidFill>
                  <a:srgbClr val="FF0000"/>
                </a:solidFill>
                <a:latin typeface="Comic Sans MS" panose="030F0702030302020204" pitchFamily="66" charset="0"/>
              </a:rPr>
              <a:t>stock closed at its lowest price of the day.</a:t>
            </a:r>
          </a:p>
          <a:p>
            <a:r>
              <a:rPr lang="en-US" dirty="0">
                <a:latin typeface="Comic Sans MS" panose="030F0702030302020204" pitchFamily="66" charset="0"/>
              </a:rPr>
              <a:t>This implies that:</a:t>
            </a:r>
          </a:p>
          <a:p>
            <a:r>
              <a:rPr lang="en-US" dirty="0">
                <a:solidFill>
                  <a:srgbClr val="FF0000"/>
                </a:solidFill>
                <a:latin typeface="Comic Sans MS" panose="030F0702030302020204" pitchFamily="66" charset="0"/>
              </a:rPr>
              <a:t>The stock price declined throughout the day, and It never recovered </a:t>
            </a:r>
            <a:r>
              <a:rPr lang="en-US" dirty="0">
                <a:latin typeface="Comic Sans MS" panose="030F0702030302020204" pitchFamily="66" charset="0"/>
              </a:rPr>
              <a:t>before the market closed.</a:t>
            </a:r>
            <a:endParaRPr lang="en-IN" dirty="0">
              <a:latin typeface="Comic Sans MS" panose="030F0702030302020204" pitchFamily="66" charset="0"/>
            </a:endParaRPr>
          </a:p>
        </p:txBody>
      </p:sp>
      <p:sp>
        <p:nvSpPr>
          <p:cNvPr id="5" name="Text Placeholder 4">
            <a:extLst>
              <a:ext uri="{FF2B5EF4-FFF2-40B4-BE49-F238E27FC236}">
                <a16:creationId xmlns:a16="http://schemas.microsoft.com/office/drawing/2014/main" id="{CAE3363C-4A93-FA8D-8F86-F5484FC200B6}"/>
              </a:ext>
            </a:extLst>
          </p:cNvPr>
          <p:cNvSpPr>
            <a:spLocks noGrp="1"/>
          </p:cNvSpPr>
          <p:nvPr>
            <p:ph type="body" sz="quarter" idx="3"/>
          </p:nvPr>
        </p:nvSpPr>
        <p:spPr>
          <a:xfrm>
            <a:off x="6313714" y="968830"/>
            <a:ext cx="5584372" cy="1068161"/>
          </a:xfrm>
        </p:spPr>
        <p:txBody>
          <a:bodyPr>
            <a:normAutofit lnSpcReduction="10000"/>
          </a:bodyPr>
          <a:lstStyle/>
          <a:p>
            <a:r>
              <a:rPr lang="en-US" dirty="0">
                <a:solidFill>
                  <a:srgbClr val="FF0000"/>
                </a:solidFill>
                <a:latin typeface="Comic Sans MS" panose="030F0702030302020204" pitchFamily="66" charset="0"/>
              </a:rPr>
              <a:t>9.2 For How many days Opening Prices and High Prices were same throughout the day:</a:t>
            </a:r>
            <a:endParaRPr lang="en-IN" dirty="0">
              <a:solidFill>
                <a:srgbClr val="FF0000"/>
              </a:solidFill>
              <a:latin typeface="Comic Sans MS" panose="030F0702030302020204" pitchFamily="66" charset="0"/>
            </a:endParaRPr>
          </a:p>
        </p:txBody>
      </p:sp>
      <p:sp>
        <p:nvSpPr>
          <p:cNvPr id="6" name="Content Placeholder 5">
            <a:extLst>
              <a:ext uri="{FF2B5EF4-FFF2-40B4-BE49-F238E27FC236}">
                <a16:creationId xmlns:a16="http://schemas.microsoft.com/office/drawing/2014/main" id="{9C83C051-2A47-F6A4-88D2-BC7629372C04}"/>
              </a:ext>
            </a:extLst>
          </p:cNvPr>
          <p:cNvSpPr>
            <a:spLocks noGrp="1"/>
          </p:cNvSpPr>
          <p:nvPr>
            <p:ph sz="quarter" idx="4"/>
          </p:nvPr>
        </p:nvSpPr>
        <p:spPr>
          <a:xfrm>
            <a:off x="6313714" y="2177143"/>
            <a:ext cx="5725432" cy="4315730"/>
          </a:xfrm>
        </p:spPr>
        <p:txBody>
          <a:bodyPr>
            <a:normAutofit fontScale="92500" lnSpcReduction="10000"/>
          </a:bodyPr>
          <a:lstStyle/>
          <a:p>
            <a:r>
              <a:rPr lang="en-US" dirty="0">
                <a:latin typeface="Comic Sans MS" panose="030F0702030302020204" pitchFamily="66" charset="0"/>
              </a:rPr>
              <a:t>There </a:t>
            </a:r>
            <a:r>
              <a:rPr lang="en-US" dirty="0">
                <a:solidFill>
                  <a:srgbClr val="FF0000"/>
                </a:solidFill>
                <a:latin typeface="Comic Sans MS" panose="030F0702030302020204" pitchFamily="66" charset="0"/>
              </a:rPr>
              <a:t>are 434 days </a:t>
            </a:r>
            <a:r>
              <a:rPr lang="en-US" dirty="0">
                <a:latin typeface="Comic Sans MS" panose="030F0702030302020204" pitchFamily="66" charset="0"/>
              </a:rPr>
              <a:t>when opening </a:t>
            </a:r>
          </a:p>
          <a:p>
            <a:r>
              <a:rPr lang="en-US" dirty="0">
                <a:latin typeface="Comic Sans MS" panose="030F0702030302020204" pitchFamily="66" charset="0"/>
              </a:rPr>
              <a:t>Prices and High Prices were same</a:t>
            </a:r>
          </a:p>
          <a:p>
            <a:endParaRPr lang="en-US" dirty="0">
              <a:latin typeface="Comic Sans MS" panose="030F0702030302020204" pitchFamily="66" charset="0"/>
            </a:endParaRPr>
          </a:p>
          <a:p>
            <a:r>
              <a:rPr lang="en-US" dirty="0">
                <a:latin typeface="Comic Sans MS" panose="030F0702030302020204" pitchFamily="66" charset="0"/>
              </a:rPr>
              <a:t># INSIGHT:</a:t>
            </a:r>
          </a:p>
          <a:p>
            <a:r>
              <a:rPr lang="en-US" dirty="0">
                <a:latin typeface="Comic Sans MS" panose="030F0702030302020204" pitchFamily="66" charset="0"/>
              </a:rPr>
              <a:t>This is a bearish sign </a:t>
            </a:r>
            <a:r>
              <a:rPr lang="en-US" dirty="0">
                <a:solidFill>
                  <a:srgbClr val="FF0000"/>
                </a:solidFill>
                <a:latin typeface="Comic Sans MS" panose="030F0702030302020204" pitchFamily="66" charset="0"/>
              </a:rPr>
              <a:t>because the price never exceeded the opening price during the entire day.</a:t>
            </a:r>
          </a:p>
          <a:p>
            <a:r>
              <a:rPr lang="en-US" dirty="0">
                <a:latin typeface="Comic Sans MS" panose="030F0702030302020204" pitchFamily="66" charset="0"/>
              </a:rPr>
              <a:t>this pattern could be </a:t>
            </a:r>
            <a:r>
              <a:rPr lang="en-US" dirty="0">
                <a:solidFill>
                  <a:srgbClr val="FF0000"/>
                </a:solidFill>
                <a:latin typeface="Comic Sans MS" panose="030F0702030302020204" pitchFamily="66" charset="0"/>
              </a:rPr>
              <a:t>a signal of short-term reversals or selling pressure</a:t>
            </a:r>
            <a:r>
              <a:rPr lang="en-US" dirty="0">
                <a:latin typeface="Comic Sans MS" panose="030F0702030302020204" pitchFamily="66" charset="0"/>
              </a:rPr>
              <a:t>.</a:t>
            </a:r>
            <a:endParaRPr lang="en-IN" dirty="0">
              <a:latin typeface="Comic Sans MS" panose="030F0702030302020204" pitchFamily="66" charset="0"/>
            </a:endParaRPr>
          </a:p>
        </p:txBody>
      </p:sp>
    </p:spTree>
    <p:extLst>
      <p:ext uri="{BB962C8B-B14F-4D97-AF65-F5344CB8AC3E}">
        <p14:creationId xmlns:p14="http://schemas.microsoft.com/office/powerpoint/2010/main" val="4056991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068C8-8B40-6B33-2F26-E8EC8E6B2FAD}"/>
              </a:ext>
            </a:extLst>
          </p:cNvPr>
          <p:cNvSpPr>
            <a:spLocks noGrp="1"/>
          </p:cNvSpPr>
          <p:nvPr>
            <p:ph type="title"/>
          </p:nvPr>
        </p:nvSpPr>
        <p:spPr>
          <a:xfrm>
            <a:off x="326571" y="174172"/>
            <a:ext cx="11375572" cy="620486"/>
          </a:xfrm>
        </p:spPr>
        <p:txBody>
          <a:bodyPr>
            <a:normAutofit fontScale="90000"/>
          </a:bodyPr>
          <a:lstStyle/>
          <a:p>
            <a:r>
              <a:rPr lang="en-US" sz="4000" b="1" dirty="0">
                <a:solidFill>
                  <a:srgbClr val="FF0000"/>
                </a:solidFill>
                <a:latin typeface="Comic Sans MS" panose="030F0702030302020204" pitchFamily="66" charset="0"/>
              </a:rPr>
              <a:t>10.No Movement day:</a:t>
            </a:r>
            <a:endParaRPr lang="en-IN" sz="4000" b="1" dirty="0">
              <a:solidFill>
                <a:srgbClr val="FF0000"/>
              </a:solidFill>
              <a:latin typeface="Comic Sans MS" panose="030F0702030302020204" pitchFamily="66" charset="0"/>
            </a:endParaRPr>
          </a:p>
        </p:txBody>
      </p:sp>
      <p:sp>
        <p:nvSpPr>
          <p:cNvPr id="4" name="Text Placeholder 3">
            <a:extLst>
              <a:ext uri="{FF2B5EF4-FFF2-40B4-BE49-F238E27FC236}">
                <a16:creationId xmlns:a16="http://schemas.microsoft.com/office/drawing/2014/main" id="{2ED10662-D31C-C990-45D6-4A764B6DAD19}"/>
              </a:ext>
            </a:extLst>
          </p:cNvPr>
          <p:cNvSpPr>
            <a:spLocks noGrp="1"/>
          </p:cNvSpPr>
          <p:nvPr>
            <p:ph type="body" sz="half" idx="2"/>
          </p:nvPr>
        </p:nvSpPr>
        <p:spPr>
          <a:xfrm>
            <a:off x="326572" y="1132114"/>
            <a:ext cx="4626428" cy="5334000"/>
          </a:xfrm>
        </p:spPr>
        <p:txBody>
          <a:bodyPr>
            <a:normAutofit lnSpcReduction="10000"/>
          </a:bodyPr>
          <a:lstStyle/>
          <a:p>
            <a:r>
              <a:rPr lang="en-US" sz="2400" dirty="0">
                <a:latin typeface="Comic Sans MS" panose="030F0702030302020204" pitchFamily="66" charset="0"/>
              </a:rPr>
              <a:t> IF ON A DAY OPEN PRICE = HIGH PRICE = </a:t>
            </a:r>
            <a:r>
              <a:rPr lang="en-US" sz="2400" dirty="0" err="1">
                <a:latin typeface="Comic Sans MS" panose="030F0702030302020204" pitchFamily="66" charset="0"/>
              </a:rPr>
              <a:t>lOW</a:t>
            </a:r>
            <a:r>
              <a:rPr lang="en-US" sz="2400" dirty="0">
                <a:latin typeface="Comic Sans MS" panose="030F0702030302020204" pitchFamily="66" charset="0"/>
              </a:rPr>
              <a:t> PRICE = CLOSE PRICE </a:t>
            </a:r>
          </a:p>
          <a:p>
            <a:r>
              <a:rPr lang="en-US" sz="2400" dirty="0">
                <a:latin typeface="Comic Sans MS" panose="030F0702030302020204" pitchFamily="66" charset="0"/>
              </a:rPr>
              <a:t>THAT DAY IS CALLED  NO Movement day’:</a:t>
            </a:r>
          </a:p>
          <a:p>
            <a:endParaRPr lang="en-US" sz="2400" dirty="0">
              <a:latin typeface="Comic Sans MS" panose="030F0702030302020204" pitchFamily="66" charset="0"/>
            </a:endParaRPr>
          </a:p>
          <a:p>
            <a:endParaRPr lang="en-US" sz="2400" dirty="0">
              <a:latin typeface="Comic Sans MS" panose="030F0702030302020204" pitchFamily="66" charset="0"/>
            </a:endParaRPr>
          </a:p>
          <a:p>
            <a:r>
              <a:rPr lang="en-US" sz="2400" dirty="0">
                <a:latin typeface="Comic Sans MS" panose="030F0702030302020204" pitchFamily="66" charset="0"/>
              </a:rPr>
              <a:t># INSIGHT--</a:t>
            </a:r>
            <a:r>
              <a:rPr lang="en-US" sz="2400" dirty="0">
                <a:solidFill>
                  <a:srgbClr val="FF0000"/>
                </a:solidFill>
                <a:latin typeface="Comic Sans MS" panose="030F0702030302020204" pitchFamily="66" charset="0"/>
              </a:rPr>
              <a:t>There are 25 days</a:t>
            </a:r>
            <a:r>
              <a:rPr lang="en-US" sz="2400" dirty="0">
                <a:latin typeface="Comic Sans MS" panose="030F0702030302020204" pitchFamily="66" charset="0"/>
              </a:rPr>
              <a:t> when the stock price remained constant throughout the day </a:t>
            </a:r>
          </a:p>
          <a:p>
            <a:r>
              <a:rPr lang="en-US" sz="2400" dirty="0">
                <a:solidFill>
                  <a:srgbClr val="FF0000"/>
                </a:solidFill>
                <a:latin typeface="Comic Sans MS" panose="030F0702030302020204" pitchFamily="66" charset="0"/>
              </a:rPr>
              <a:t>Holiday or Half-Day Market (Technical Day</a:t>
            </a:r>
            <a:r>
              <a:rPr lang="en-US" sz="2400" dirty="0">
                <a:latin typeface="Comic Sans MS" panose="030F0702030302020204" pitchFamily="66" charset="0"/>
              </a:rPr>
              <a:t>)	The market might have had a </a:t>
            </a:r>
            <a:r>
              <a:rPr lang="en-US" sz="2400" dirty="0">
                <a:solidFill>
                  <a:srgbClr val="FF0000"/>
                </a:solidFill>
                <a:latin typeface="Comic Sans MS" panose="030F0702030302020204" pitchFamily="66" charset="0"/>
              </a:rPr>
              <a:t>shortened session</a:t>
            </a:r>
            <a:r>
              <a:rPr lang="en-US" sz="2400" dirty="0">
                <a:latin typeface="Comic Sans MS" panose="030F0702030302020204" pitchFamily="66" charset="0"/>
              </a:rPr>
              <a:t>, or </a:t>
            </a:r>
            <a:r>
              <a:rPr lang="en-US" sz="2400" dirty="0">
                <a:solidFill>
                  <a:srgbClr val="FF0000"/>
                </a:solidFill>
                <a:latin typeface="Comic Sans MS" panose="030F0702030302020204" pitchFamily="66" charset="0"/>
              </a:rPr>
              <a:t>trading was halted</a:t>
            </a:r>
            <a:r>
              <a:rPr lang="en-US" sz="2400" dirty="0">
                <a:latin typeface="Comic Sans MS" panose="030F0702030302020204" pitchFamily="66" charset="0"/>
              </a:rPr>
              <a:t>.</a:t>
            </a:r>
            <a:endParaRPr lang="en-IN" sz="2400" dirty="0">
              <a:latin typeface="Comic Sans MS" panose="030F0702030302020204" pitchFamily="66" charset="0"/>
            </a:endParaRPr>
          </a:p>
        </p:txBody>
      </p:sp>
      <p:pic>
        <p:nvPicPr>
          <p:cNvPr id="14" name="Picture Placeholder 13">
            <a:extLst>
              <a:ext uri="{FF2B5EF4-FFF2-40B4-BE49-F238E27FC236}">
                <a16:creationId xmlns:a16="http://schemas.microsoft.com/office/drawing/2014/main" id="{7B40D3B6-6165-2D91-3ECC-B5D44979861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2564" r="12564"/>
          <a:stretch>
            <a:fillRect/>
          </a:stretch>
        </p:blipFill>
        <p:spPr>
          <a:xfrm>
            <a:off x="5564187" y="1132113"/>
            <a:ext cx="6518955" cy="5181601"/>
          </a:xfrm>
        </p:spPr>
      </p:pic>
    </p:spTree>
    <p:extLst>
      <p:ext uri="{BB962C8B-B14F-4D97-AF65-F5344CB8AC3E}">
        <p14:creationId xmlns:p14="http://schemas.microsoft.com/office/powerpoint/2010/main" val="2223160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E0A7E-D460-76C0-D70C-288BDF665C69}"/>
              </a:ext>
            </a:extLst>
          </p:cNvPr>
          <p:cNvSpPr>
            <a:spLocks noGrp="1"/>
          </p:cNvSpPr>
          <p:nvPr>
            <p:ph type="title"/>
          </p:nvPr>
        </p:nvSpPr>
        <p:spPr>
          <a:xfrm>
            <a:off x="391885" y="174171"/>
            <a:ext cx="11321143" cy="1426029"/>
          </a:xfrm>
        </p:spPr>
        <p:txBody>
          <a:bodyPr>
            <a:normAutofit fontScale="90000"/>
          </a:bodyPr>
          <a:lstStyle/>
          <a:p>
            <a:r>
              <a:rPr lang="en-US" dirty="0">
                <a:solidFill>
                  <a:srgbClr val="FF0000"/>
                </a:solidFill>
                <a:latin typeface="Comic Sans MS" panose="030F0702030302020204" pitchFamily="66" charset="0"/>
              </a:rPr>
              <a:t>11.Top 5 Dates when Stock Was Most Volatile</a:t>
            </a:r>
            <a:br>
              <a:rPr lang="en-US" dirty="0">
                <a:solidFill>
                  <a:srgbClr val="FF0000"/>
                </a:solidFill>
                <a:latin typeface="Comic Sans MS" panose="030F0702030302020204" pitchFamily="66" charset="0"/>
              </a:rPr>
            </a:br>
            <a:endParaRPr lang="en-IN"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BC609DA2-0E71-0368-000F-C2DF71EB451F}"/>
              </a:ext>
            </a:extLst>
          </p:cNvPr>
          <p:cNvPicPr>
            <a:picLocks noGrp="1" noChangeAspect="1"/>
          </p:cNvPicPr>
          <p:nvPr>
            <p:ph sz="half" idx="1"/>
          </p:nvPr>
        </p:nvPicPr>
        <p:blipFill>
          <a:blip r:embed="rId2"/>
          <a:stretch>
            <a:fillRect/>
          </a:stretch>
        </p:blipFill>
        <p:spPr>
          <a:xfrm>
            <a:off x="108856" y="1317170"/>
            <a:ext cx="4582887" cy="5366657"/>
          </a:xfrm>
        </p:spPr>
      </p:pic>
      <p:sp>
        <p:nvSpPr>
          <p:cNvPr id="4" name="Content Placeholder 3">
            <a:extLst>
              <a:ext uri="{FF2B5EF4-FFF2-40B4-BE49-F238E27FC236}">
                <a16:creationId xmlns:a16="http://schemas.microsoft.com/office/drawing/2014/main" id="{5C4AF0B1-1D96-FE5B-BFE1-12E2E286005A}"/>
              </a:ext>
            </a:extLst>
          </p:cNvPr>
          <p:cNvSpPr>
            <a:spLocks noGrp="1"/>
          </p:cNvSpPr>
          <p:nvPr>
            <p:ph sz="half" idx="2"/>
          </p:nvPr>
        </p:nvSpPr>
        <p:spPr>
          <a:xfrm>
            <a:off x="4974773" y="1317171"/>
            <a:ext cx="6738256" cy="5366658"/>
          </a:xfrm>
        </p:spPr>
        <p:txBody>
          <a:bodyPr>
            <a:normAutofit fontScale="92500" lnSpcReduction="10000"/>
          </a:bodyPr>
          <a:lstStyle/>
          <a:p>
            <a:r>
              <a:rPr lang="en-US" dirty="0">
                <a:solidFill>
                  <a:srgbClr val="FF0000"/>
                </a:solidFill>
                <a:latin typeface="Comic Sans MS" panose="030F0702030302020204" pitchFamily="66" charset="0"/>
              </a:rPr>
              <a:t>Price range =(High - Low ) how much the price fluctuated from its lowest point to its highest point that day</a:t>
            </a:r>
            <a:r>
              <a:rPr lang="en-US" dirty="0">
                <a:latin typeface="Comic Sans MS" panose="030F0702030302020204" pitchFamily="66" charset="0"/>
              </a:rPr>
              <a:t>.</a:t>
            </a:r>
          </a:p>
          <a:p>
            <a:endParaRPr lang="en-US" dirty="0">
              <a:latin typeface="Comic Sans MS" panose="030F0702030302020204" pitchFamily="66" charset="0"/>
            </a:endParaRPr>
          </a:p>
          <a:p>
            <a:r>
              <a:rPr lang="en-US" dirty="0">
                <a:latin typeface="Comic Sans MS" panose="030F0702030302020204" pitchFamily="66" charset="0"/>
              </a:rPr>
              <a:t># Insight-</a:t>
            </a:r>
          </a:p>
          <a:p>
            <a:r>
              <a:rPr lang="en-US" dirty="0">
                <a:latin typeface="Comic Sans MS" panose="030F0702030302020204" pitchFamily="66" charset="0"/>
              </a:rPr>
              <a:t>Most volatile stock price was </a:t>
            </a:r>
            <a:r>
              <a:rPr lang="en-US" dirty="0">
                <a:solidFill>
                  <a:srgbClr val="FF0000"/>
                </a:solidFill>
                <a:latin typeface="Comic Sans MS" panose="030F0702030302020204" pitchFamily="66" charset="0"/>
              </a:rPr>
              <a:t>305.9993129 on 2020-03-13</a:t>
            </a:r>
            <a:r>
              <a:rPr lang="en-US" dirty="0">
                <a:latin typeface="Comic Sans MS" panose="030F0702030302020204" pitchFamily="66" charset="0"/>
              </a:rPr>
              <a:t>:“TCS experienced its most volatile trading day on </a:t>
            </a:r>
            <a:r>
              <a:rPr lang="en-US" dirty="0">
                <a:solidFill>
                  <a:srgbClr val="FF0000"/>
                </a:solidFill>
                <a:latin typeface="Comic Sans MS" panose="030F0702030302020204" pitchFamily="66" charset="0"/>
              </a:rPr>
              <a:t>March 13, 2020, with an intraday price swing of ₹305.99</a:t>
            </a:r>
            <a:r>
              <a:rPr lang="en-US" dirty="0">
                <a:latin typeface="Comic Sans MS" panose="030F0702030302020204" pitchFamily="66" charset="0"/>
              </a:rPr>
              <a:t>, reflecting the broader market crash driven by </a:t>
            </a:r>
            <a:r>
              <a:rPr lang="en-US" dirty="0">
                <a:solidFill>
                  <a:srgbClr val="FF0000"/>
                </a:solidFill>
                <a:latin typeface="Comic Sans MS" panose="030F0702030302020204" pitchFamily="66" charset="0"/>
              </a:rPr>
              <a:t>pandemic fears corona</a:t>
            </a:r>
            <a:r>
              <a:rPr lang="en-US" dirty="0">
                <a:latin typeface="Comic Sans MS" panose="030F0702030302020204" pitchFamily="66" charset="0"/>
              </a:rPr>
              <a:t>.</a:t>
            </a:r>
          </a:p>
          <a:p>
            <a:r>
              <a:rPr lang="en-US" dirty="0">
                <a:latin typeface="Comic Sans MS" panose="030F0702030302020204" pitchFamily="66" charset="0"/>
              </a:rPr>
              <a:t>This volatility highlights how even fundamentally strong stocks are not immune to global events.”</a:t>
            </a:r>
          </a:p>
          <a:p>
            <a:endParaRPr lang="en-IN" dirty="0">
              <a:latin typeface="Comic Sans MS" panose="030F0702030302020204" pitchFamily="66" charset="0"/>
            </a:endParaRPr>
          </a:p>
        </p:txBody>
      </p:sp>
    </p:spTree>
    <p:extLst>
      <p:ext uri="{BB962C8B-B14F-4D97-AF65-F5344CB8AC3E}">
        <p14:creationId xmlns:p14="http://schemas.microsoft.com/office/powerpoint/2010/main" val="1613719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041D-0C2F-2C6D-CC5F-882B761AE028}"/>
              </a:ext>
            </a:extLst>
          </p:cNvPr>
          <p:cNvSpPr>
            <a:spLocks noGrp="1"/>
          </p:cNvSpPr>
          <p:nvPr>
            <p:ph type="title"/>
          </p:nvPr>
        </p:nvSpPr>
        <p:spPr>
          <a:xfrm>
            <a:off x="337457" y="174171"/>
            <a:ext cx="11016343" cy="979715"/>
          </a:xfrm>
        </p:spPr>
        <p:txBody>
          <a:bodyPr/>
          <a:lstStyle/>
          <a:p>
            <a:r>
              <a:rPr lang="en-US" b="1" dirty="0">
                <a:solidFill>
                  <a:srgbClr val="FF0000"/>
                </a:solidFill>
                <a:latin typeface="Comic Sans MS" panose="030F0702030302020204" pitchFamily="66" charset="0"/>
              </a:rPr>
              <a:t>12. Close Change</a:t>
            </a:r>
            <a:endParaRPr lang="en-IN"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EC0DF366-4902-2231-FA8B-C54AA1DF3817}"/>
              </a:ext>
            </a:extLst>
          </p:cNvPr>
          <p:cNvPicPr>
            <a:picLocks noGrp="1" noChangeAspect="1"/>
          </p:cNvPicPr>
          <p:nvPr>
            <p:ph sz="half" idx="1"/>
          </p:nvPr>
        </p:nvPicPr>
        <p:blipFill>
          <a:blip r:embed="rId2"/>
          <a:stretch>
            <a:fillRect/>
          </a:stretch>
        </p:blipFill>
        <p:spPr>
          <a:xfrm>
            <a:off x="185057" y="1447799"/>
            <a:ext cx="4963887" cy="5236029"/>
          </a:xfrm>
        </p:spPr>
      </p:pic>
      <p:sp>
        <p:nvSpPr>
          <p:cNvPr id="4" name="Content Placeholder 3">
            <a:extLst>
              <a:ext uri="{FF2B5EF4-FFF2-40B4-BE49-F238E27FC236}">
                <a16:creationId xmlns:a16="http://schemas.microsoft.com/office/drawing/2014/main" id="{849677CB-FD0B-4993-ECAE-C6A64B50C33F}"/>
              </a:ext>
            </a:extLst>
          </p:cNvPr>
          <p:cNvSpPr>
            <a:spLocks noGrp="1"/>
          </p:cNvSpPr>
          <p:nvPr>
            <p:ph sz="half" idx="2"/>
          </p:nvPr>
        </p:nvSpPr>
        <p:spPr>
          <a:xfrm>
            <a:off x="5323115" y="1447800"/>
            <a:ext cx="6683828" cy="5127171"/>
          </a:xfrm>
        </p:spPr>
        <p:txBody>
          <a:bodyPr>
            <a:normAutofit fontScale="85000" lnSpcReduction="20000"/>
          </a:bodyPr>
          <a:lstStyle/>
          <a:p>
            <a:r>
              <a:rPr lang="en-US" dirty="0">
                <a:solidFill>
                  <a:srgbClr val="FF0000"/>
                </a:solidFill>
                <a:latin typeface="Comic Sans MS" panose="030F0702030302020204" pitchFamily="66" charset="0"/>
              </a:rPr>
              <a:t>Close Change = How much stock gained or loss in a single day</a:t>
            </a:r>
          </a:p>
          <a:p>
            <a:endParaRPr lang="en-US" dirty="0">
              <a:solidFill>
                <a:srgbClr val="FF0000"/>
              </a:solidFill>
              <a:latin typeface="Comic Sans MS" panose="030F0702030302020204" pitchFamily="66" charset="0"/>
            </a:endParaRPr>
          </a:p>
          <a:p>
            <a:r>
              <a:rPr lang="en-US" dirty="0">
                <a:solidFill>
                  <a:srgbClr val="FF0000"/>
                </a:solidFill>
                <a:latin typeface="Comic Sans MS" panose="030F0702030302020204" pitchFamily="66" charset="0"/>
              </a:rPr>
              <a:t>Close change = close – open</a:t>
            </a:r>
          </a:p>
          <a:p>
            <a:endParaRPr lang="en-US" dirty="0">
              <a:solidFill>
                <a:srgbClr val="FF0000"/>
              </a:solidFill>
              <a:latin typeface="Comic Sans MS" panose="030F0702030302020204" pitchFamily="66" charset="0"/>
            </a:endParaRPr>
          </a:p>
          <a:p>
            <a:r>
              <a:rPr lang="en-US" dirty="0">
                <a:latin typeface="Comic Sans MS" panose="030F0702030302020204" pitchFamily="66" charset="0"/>
              </a:rPr>
              <a:t># Insight:</a:t>
            </a:r>
          </a:p>
          <a:p>
            <a:r>
              <a:rPr lang="en-US" dirty="0">
                <a:solidFill>
                  <a:srgbClr val="FF0000"/>
                </a:solidFill>
                <a:latin typeface="Comic Sans MS" panose="030F0702030302020204" pitchFamily="66" charset="0"/>
              </a:rPr>
              <a:t>On March 20, 2020, TCS saw its largest single-day closing price gain of ₹164.40</a:t>
            </a:r>
            <a:r>
              <a:rPr lang="en-US" dirty="0">
                <a:latin typeface="Comic Sans MS" panose="030F0702030302020204" pitchFamily="66" charset="0"/>
              </a:rPr>
              <a:t>, likely driven by investor optimism after a period of heightened COVID-19-driven volatility. </a:t>
            </a:r>
          </a:p>
          <a:p>
            <a:r>
              <a:rPr lang="en-US" dirty="0">
                <a:latin typeface="Comic Sans MS" panose="030F0702030302020204" pitchFamily="66" charset="0"/>
              </a:rPr>
              <a:t>   </a:t>
            </a:r>
          </a:p>
          <a:p>
            <a:r>
              <a:rPr lang="en-US" dirty="0">
                <a:latin typeface="Comic Sans MS" panose="030F0702030302020204" pitchFamily="66" charset="0"/>
              </a:rPr>
              <a:t>This spike reflects TCS’s resilience and investor confidence in the IT sector during uncertain times."</a:t>
            </a:r>
            <a:endParaRPr lang="en-IN" dirty="0">
              <a:latin typeface="Comic Sans MS" panose="030F0702030302020204" pitchFamily="66" charset="0"/>
            </a:endParaRPr>
          </a:p>
        </p:txBody>
      </p:sp>
    </p:spTree>
    <p:extLst>
      <p:ext uri="{BB962C8B-B14F-4D97-AF65-F5344CB8AC3E}">
        <p14:creationId xmlns:p14="http://schemas.microsoft.com/office/powerpoint/2010/main" val="2705224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BB6E5-7DC7-AAF1-1420-30A8721423A0}"/>
              </a:ext>
            </a:extLst>
          </p:cNvPr>
          <p:cNvSpPr>
            <a:spLocks noGrp="1"/>
          </p:cNvSpPr>
          <p:nvPr>
            <p:ph type="title"/>
          </p:nvPr>
        </p:nvSpPr>
        <p:spPr>
          <a:xfrm>
            <a:off x="250371" y="365126"/>
            <a:ext cx="11103429" cy="810532"/>
          </a:xfrm>
        </p:spPr>
        <p:txBody>
          <a:bodyPr/>
          <a:lstStyle/>
          <a:p>
            <a:r>
              <a:rPr lang="en-US" b="1" dirty="0">
                <a:solidFill>
                  <a:srgbClr val="FF0000"/>
                </a:solidFill>
                <a:latin typeface="Comic Sans MS" panose="030F0702030302020204" pitchFamily="66" charset="0"/>
              </a:rPr>
              <a:t>12.1 Highest Close Change Per Year:</a:t>
            </a:r>
            <a:endParaRPr lang="en-IN"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8A9751F9-E42C-17BB-FC18-506D3C00B6A3}"/>
              </a:ext>
            </a:extLst>
          </p:cNvPr>
          <p:cNvPicPr>
            <a:picLocks noGrp="1" noChangeAspect="1"/>
          </p:cNvPicPr>
          <p:nvPr>
            <p:ph sz="half" idx="1"/>
          </p:nvPr>
        </p:nvPicPr>
        <p:blipFill>
          <a:blip r:embed="rId2"/>
          <a:stretch>
            <a:fillRect/>
          </a:stretch>
        </p:blipFill>
        <p:spPr>
          <a:xfrm>
            <a:off x="119063" y="1578429"/>
            <a:ext cx="6836908" cy="5127171"/>
          </a:xfrm>
        </p:spPr>
      </p:pic>
      <p:sp>
        <p:nvSpPr>
          <p:cNvPr id="4" name="Content Placeholder 3">
            <a:extLst>
              <a:ext uri="{FF2B5EF4-FFF2-40B4-BE49-F238E27FC236}">
                <a16:creationId xmlns:a16="http://schemas.microsoft.com/office/drawing/2014/main" id="{6AF26E4A-04C7-C7AD-0C29-FBCDC592B6F3}"/>
              </a:ext>
            </a:extLst>
          </p:cNvPr>
          <p:cNvSpPr>
            <a:spLocks noGrp="1"/>
          </p:cNvSpPr>
          <p:nvPr>
            <p:ph sz="half" idx="2"/>
          </p:nvPr>
        </p:nvSpPr>
        <p:spPr>
          <a:xfrm>
            <a:off x="7293429" y="1578428"/>
            <a:ext cx="4779508" cy="5040085"/>
          </a:xfrm>
        </p:spPr>
        <p:txBody>
          <a:bodyPr>
            <a:normAutofit fontScale="92500" lnSpcReduction="10000"/>
          </a:bodyPr>
          <a:lstStyle/>
          <a:p>
            <a:r>
              <a:rPr lang="en-US" sz="3900" b="1" dirty="0">
                <a:solidFill>
                  <a:srgbClr val="FF0000"/>
                </a:solidFill>
              </a:rPr>
              <a:t>Insight:</a:t>
            </a:r>
          </a:p>
          <a:p>
            <a:r>
              <a:rPr lang="en-US" b="1" dirty="0"/>
              <a:t>2002–2019:</a:t>
            </a:r>
            <a:br>
              <a:rPr lang="en-US" dirty="0"/>
            </a:br>
            <a:r>
              <a:rPr lang="en-US" dirty="0">
                <a:solidFill>
                  <a:srgbClr val="FF0000"/>
                </a:solidFill>
              </a:rPr>
              <a:t>Gradual upward trend </a:t>
            </a:r>
            <a:r>
              <a:rPr lang="en-US" dirty="0"/>
              <a:t>in daily price change — indicates rising volatility over the years.</a:t>
            </a:r>
          </a:p>
          <a:p>
            <a:r>
              <a:rPr lang="en-US" b="1" dirty="0"/>
              <a:t>2020 Spike:</a:t>
            </a:r>
            <a:br>
              <a:rPr lang="en-US" dirty="0"/>
            </a:br>
            <a:r>
              <a:rPr lang="en-US" dirty="0">
                <a:solidFill>
                  <a:srgbClr val="FF0000"/>
                </a:solidFill>
              </a:rPr>
              <a:t>Sharp increase in 2020 (₹160+) — likely due to </a:t>
            </a:r>
            <a:r>
              <a:rPr lang="en-US" b="1" dirty="0">
                <a:solidFill>
                  <a:srgbClr val="FF0000"/>
                </a:solidFill>
              </a:rPr>
              <a:t>COVID-19 market volatility</a:t>
            </a:r>
            <a:r>
              <a:rPr lang="en-US" dirty="0"/>
              <a:t>.</a:t>
            </a:r>
          </a:p>
          <a:p>
            <a:r>
              <a:rPr lang="en-US" b="1" dirty="0"/>
              <a:t>Post-2020:</a:t>
            </a:r>
            <a:br>
              <a:rPr lang="en-US" dirty="0"/>
            </a:br>
            <a:r>
              <a:rPr lang="en-US" dirty="0"/>
              <a:t>Slight decrease after 2020, but still </a:t>
            </a:r>
            <a:r>
              <a:rPr lang="en-US" b="1" dirty="0"/>
              <a:t>higher than earlier years</a:t>
            </a:r>
            <a:r>
              <a:rPr lang="en-US" dirty="0"/>
              <a:t> — shows continued high volatility.</a:t>
            </a:r>
          </a:p>
          <a:p>
            <a:endParaRPr lang="en-IN" dirty="0"/>
          </a:p>
        </p:txBody>
      </p:sp>
    </p:spTree>
    <p:extLst>
      <p:ext uri="{BB962C8B-B14F-4D97-AF65-F5344CB8AC3E}">
        <p14:creationId xmlns:p14="http://schemas.microsoft.com/office/powerpoint/2010/main" val="1834727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26A4-5C57-A8D6-E752-27F9D103A3CD}"/>
              </a:ext>
            </a:extLst>
          </p:cNvPr>
          <p:cNvSpPr>
            <a:spLocks noGrp="1"/>
          </p:cNvSpPr>
          <p:nvPr>
            <p:ph type="title"/>
          </p:nvPr>
        </p:nvSpPr>
        <p:spPr>
          <a:xfrm>
            <a:off x="185056" y="217713"/>
            <a:ext cx="11549744" cy="827315"/>
          </a:xfrm>
        </p:spPr>
        <p:txBody>
          <a:bodyPr>
            <a:normAutofit fontScale="90000"/>
          </a:bodyPr>
          <a:lstStyle/>
          <a:p>
            <a:r>
              <a:rPr lang="en-US" sz="3200" b="1" dirty="0">
                <a:solidFill>
                  <a:srgbClr val="FF0000"/>
                </a:solidFill>
                <a:latin typeface="Comic Sans MS" panose="030F0702030302020204" pitchFamily="66" charset="0"/>
              </a:rPr>
              <a:t>12.2 TOP 5 DATES WHEN CLOSE CHANGE WAS LOWEST</a:t>
            </a:r>
            <a:endParaRPr lang="en-IN" sz="3200"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ABA1A669-55A0-E569-5B3E-4E0BE5D0AAD7}"/>
              </a:ext>
            </a:extLst>
          </p:cNvPr>
          <p:cNvPicPr>
            <a:picLocks noGrp="1" noChangeAspect="1"/>
          </p:cNvPicPr>
          <p:nvPr>
            <p:ph sz="half" idx="1"/>
          </p:nvPr>
        </p:nvPicPr>
        <p:blipFill>
          <a:blip r:embed="rId2"/>
          <a:stretch>
            <a:fillRect/>
          </a:stretch>
        </p:blipFill>
        <p:spPr>
          <a:xfrm>
            <a:off x="76200" y="1415142"/>
            <a:ext cx="4419601" cy="5225145"/>
          </a:xfrm>
        </p:spPr>
      </p:pic>
      <p:sp>
        <p:nvSpPr>
          <p:cNvPr id="4" name="Content Placeholder 3">
            <a:extLst>
              <a:ext uri="{FF2B5EF4-FFF2-40B4-BE49-F238E27FC236}">
                <a16:creationId xmlns:a16="http://schemas.microsoft.com/office/drawing/2014/main" id="{73DA9D77-7D25-14AA-2640-95873475D458}"/>
              </a:ext>
            </a:extLst>
          </p:cNvPr>
          <p:cNvSpPr>
            <a:spLocks noGrp="1"/>
          </p:cNvSpPr>
          <p:nvPr>
            <p:ph sz="half" idx="2"/>
          </p:nvPr>
        </p:nvSpPr>
        <p:spPr>
          <a:xfrm>
            <a:off x="4800600" y="1502229"/>
            <a:ext cx="7206342" cy="5138058"/>
          </a:xfrm>
        </p:spPr>
        <p:txBody>
          <a:bodyPr>
            <a:normAutofit fontScale="85000" lnSpcReduction="20000"/>
          </a:bodyPr>
          <a:lstStyle/>
          <a:p>
            <a:r>
              <a:rPr lang="en-US" sz="4300" dirty="0">
                <a:solidFill>
                  <a:srgbClr val="FF0000"/>
                </a:solidFill>
                <a:latin typeface="Comic Sans MS" panose="030F0702030302020204" pitchFamily="66" charset="0"/>
              </a:rPr>
              <a:t># Insight</a:t>
            </a:r>
            <a:r>
              <a:rPr lang="en-US" dirty="0">
                <a:solidFill>
                  <a:srgbClr val="FF0000"/>
                </a:solidFill>
                <a:latin typeface="Comic Sans MS" panose="030F0702030302020204" pitchFamily="66" charset="0"/>
              </a:rPr>
              <a:t>:</a:t>
            </a:r>
          </a:p>
          <a:p>
            <a:r>
              <a:rPr lang="en-US" dirty="0">
                <a:solidFill>
                  <a:srgbClr val="FF0000"/>
                </a:solidFill>
                <a:latin typeface="Comic Sans MS" panose="030F0702030302020204" pitchFamily="66" charset="0"/>
              </a:rPr>
              <a:t>On 22nd February 2021</a:t>
            </a:r>
            <a:r>
              <a:rPr lang="en-US" dirty="0">
                <a:latin typeface="Comic Sans MS" panose="030F0702030302020204" pitchFamily="66" charset="0"/>
              </a:rPr>
              <a:t>, the TCS stock </a:t>
            </a:r>
            <a:r>
              <a:rPr lang="en-US" dirty="0">
                <a:solidFill>
                  <a:srgbClr val="FF0000"/>
                </a:solidFill>
                <a:latin typeface="Comic Sans MS" panose="030F0702030302020204" pitchFamily="66" charset="0"/>
              </a:rPr>
              <a:t>price fell by ₹136 in one day. </a:t>
            </a:r>
            <a:r>
              <a:rPr lang="en-US" dirty="0">
                <a:latin typeface="Comic Sans MS" panose="030F0702030302020204" pitchFamily="66" charset="0"/>
              </a:rPr>
              <a:t>This was a big drop. –</a:t>
            </a:r>
          </a:p>
          <a:p>
            <a:r>
              <a:rPr lang="en-US" dirty="0">
                <a:latin typeface="Comic Sans MS" panose="030F0702030302020204" pitchFamily="66" charset="0"/>
              </a:rPr>
              <a:t> </a:t>
            </a:r>
            <a:r>
              <a:rPr lang="en-US" dirty="0">
                <a:solidFill>
                  <a:srgbClr val="FF0000"/>
                </a:solidFill>
                <a:latin typeface="Comic Sans MS" panose="030F0702030302020204" pitchFamily="66" charset="0"/>
              </a:rPr>
              <a:t>Reasons:</a:t>
            </a:r>
          </a:p>
          <a:p>
            <a:r>
              <a:rPr lang="en-US" dirty="0">
                <a:solidFill>
                  <a:srgbClr val="FF0000"/>
                </a:solidFill>
                <a:latin typeface="Comic Sans MS" panose="030F0702030302020204" pitchFamily="66" charset="0"/>
              </a:rPr>
              <a:t>People were selling to take profits</a:t>
            </a:r>
            <a:r>
              <a:rPr lang="en-US" dirty="0">
                <a:latin typeface="Comic Sans MS" panose="030F0702030302020204" pitchFamily="66" charset="0"/>
              </a:rPr>
              <a:t>– The stock may have gone up earlier, so many investors sold it to lock in their profits. This caused the price to fall.</a:t>
            </a:r>
          </a:p>
          <a:p>
            <a:r>
              <a:rPr lang="en-US" dirty="0">
                <a:solidFill>
                  <a:srgbClr val="FF0000"/>
                </a:solidFill>
                <a:latin typeface="Comic Sans MS" panose="030F0702030302020204" pitchFamily="66" charset="0"/>
              </a:rPr>
              <a:t>Overall market was down</a:t>
            </a:r>
            <a:r>
              <a:rPr lang="en-US" dirty="0">
                <a:latin typeface="Comic Sans MS" panose="030F0702030302020204" pitchFamily="66" charset="0"/>
              </a:rPr>
              <a:t>– Sometimes when the whole stock market is falling (due to news or economic issues), big stocks like TCS also go down.</a:t>
            </a:r>
          </a:p>
          <a:p>
            <a:r>
              <a:rPr lang="en-US" dirty="0">
                <a:solidFill>
                  <a:srgbClr val="FF0000"/>
                </a:solidFill>
                <a:latin typeface="Comic Sans MS" panose="030F0702030302020204" pitchFamily="66" charset="0"/>
              </a:rPr>
              <a:t>IT sector was weak</a:t>
            </a:r>
            <a:r>
              <a:rPr lang="en-US" dirty="0">
                <a:latin typeface="Comic Sans MS" panose="030F0702030302020204" pitchFamily="66" charset="0"/>
              </a:rPr>
              <a:t>– Other technology companies might also have been falling that day, which can affect TCS too.</a:t>
            </a:r>
            <a:endParaRPr lang="en-IN" dirty="0">
              <a:latin typeface="Comic Sans MS" panose="030F0702030302020204" pitchFamily="66" charset="0"/>
            </a:endParaRPr>
          </a:p>
        </p:txBody>
      </p:sp>
    </p:spTree>
    <p:extLst>
      <p:ext uri="{BB962C8B-B14F-4D97-AF65-F5344CB8AC3E}">
        <p14:creationId xmlns:p14="http://schemas.microsoft.com/office/powerpoint/2010/main" val="2797205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E6C72-6D5A-7F46-9AD3-C75A90D1F8E4}"/>
              </a:ext>
            </a:extLst>
          </p:cNvPr>
          <p:cNvSpPr>
            <a:spLocks noGrp="1"/>
          </p:cNvSpPr>
          <p:nvPr>
            <p:ph type="title"/>
          </p:nvPr>
        </p:nvSpPr>
        <p:spPr>
          <a:xfrm>
            <a:off x="206829" y="195944"/>
            <a:ext cx="11146971" cy="1045028"/>
          </a:xfrm>
        </p:spPr>
        <p:txBody>
          <a:bodyPr/>
          <a:lstStyle/>
          <a:p>
            <a:r>
              <a:rPr lang="en-US" b="1" dirty="0">
                <a:solidFill>
                  <a:srgbClr val="FF0000"/>
                </a:solidFill>
                <a:latin typeface="Comic Sans MS" panose="030F0702030302020204" pitchFamily="66" charset="0"/>
              </a:rPr>
              <a:t>13. Average price of Stocks:</a:t>
            </a:r>
            <a:endParaRPr lang="en-IN"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677B4B38-A3A0-CE73-AE45-4B62E7EE7471}"/>
              </a:ext>
            </a:extLst>
          </p:cNvPr>
          <p:cNvPicPr>
            <a:picLocks noGrp="1" noChangeAspect="1"/>
          </p:cNvPicPr>
          <p:nvPr>
            <p:ph sz="half" idx="1"/>
          </p:nvPr>
        </p:nvPicPr>
        <p:blipFill>
          <a:blip r:embed="rId2"/>
          <a:stretch>
            <a:fillRect/>
          </a:stretch>
        </p:blipFill>
        <p:spPr>
          <a:xfrm>
            <a:off x="195943" y="1611086"/>
            <a:ext cx="6716486" cy="4931228"/>
          </a:xfrm>
        </p:spPr>
      </p:pic>
      <p:sp>
        <p:nvSpPr>
          <p:cNvPr id="4" name="Content Placeholder 3">
            <a:extLst>
              <a:ext uri="{FF2B5EF4-FFF2-40B4-BE49-F238E27FC236}">
                <a16:creationId xmlns:a16="http://schemas.microsoft.com/office/drawing/2014/main" id="{BF072556-20AB-5B83-4969-4B514D52AF44}"/>
              </a:ext>
            </a:extLst>
          </p:cNvPr>
          <p:cNvSpPr>
            <a:spLocks noGrp="1"/>
          </p:cNvSpPr>
          <p:nvPr>
            <p:ph sz="half" idx="2"/>
          </p:nvPr>
        </p:nvSpPr>
        <p:spPr>
          <a:xfrm>
            <a:off x="7108371" y="1524002"/>
            <a:ext cx="4887686" cy="4931228"/>
          </a:xfrm>
        </p:spPr>
        <p:txBody>
          <a:bodyPr>
            <a:normAutofit fontScale="92500" lnSpcReduction="10000"/>
          </a:bodyPr>
          <a:lstStyle/>
          <a:p>
            <a:r>
              <a:rPr lang="en-US" b="1" dirty="0">
                <a:latin typeface="Comic Sans MS" panose="030F0702030302020204" pitchFamily="66" charset="0"/>
              </a:rPr>
              <a:t>2002–2010:</a:t>
            </a:r>
            <a:br>
              <a:rPr lang="en-US" dirty="0">
                <a:latin typeface="Comic Sans MS" panose="030F0702030302020204" pitchFamily="66" charset="0"/>
              </a:rPr>
            </a:br>
            <a:r>
              <a:rPr lang="en-US" dirty="0">
                <a:latin typeface="Comic Sans MS" panose="030F0702030302020204" pitchFamily="66" charset="0"/>
              </a:rPr>
              <a:t>Stable prices with </a:t>
            </a:r>
            <a:r>
              <a:rPr lang="en-US" b="1" dirty="0">
                <a:latin typeface="Comic Sans MS" panose="030F0702030302020204" pitchFamily="66" charset="0"/>
              </a:rPr>
              <a:t>gradual growth</a:t>
            </a:r>
            <a:r>
              <a:rPr lang="en-US" dirty="0">
                <a:latin typeface="Comic Sans MS" panose="030F0702030302020204" pitchFamily="66" charset="0"/>
              </a:rPr>
              <a:t>.</a:t>
            </a:r>
          </a:p>
          <a:p>
            <a:r>
              <a:rPr lang="en-US" b="1" dirty="0">
                <a:latin typeface="Comic Sans MS" panose="030F0702030302020204" pitchFamily="66" charset="0"/>
              </a:rPr>
              <a:t>Post-2010:</a:t>
            </a:r>
            <a:br>
              <a:rPr lang="en-US" dirty="0">
                <a:latin typeface="Comic Sans MS" panose="030F0702030302020204" pitchFamily="66" charset="0"/>
              </a:rPr>
            </a:br>
            <a:r>
              <a:rPr lang="en-US" b="1" dirty="0">
                <a:latin typeface="Comic Sans MS" panose="030F0702030302020204" pitchFamily="66" charset="0"/>
              </a:rPr>
              <a:t>Accelerated growth</a:t>
            </a:r>
            <a:r>
              <a:rPr lang="en-US" dirty="0">
                <a:latin typeface="Comic Sans MS" panose="030F0702030302020204" pitchFamily="66" charset="0"/>
              </a:rPr>
              <a:t> in stock price begins.</a:t>
            </a:r>
          </a:p>
          <a:p>
            <a:r>
              <a:rPr lang="en-US" b="1" dirty="0">
                <a:latin typeface="Comic Sans MS" panose="030F0702030302020204" pitchFamily="66" charset="0"/>
              </a:rPr>
              <a:t>Post-2017:</a:t>
            </a:r>
            <a:br>
              <a:rPr lang="en-US" dirty="0">
                <a:latin typeface="Comic Sans MS" panose="030F0702030302020204" pitchFamily="66" charset="0"/>
              </a:rPr>
            </a:br>
            <a:r>
              <a:rPr lang="en-US" b="1" dirty="0">
                <a:latin typeface="Comic Sans MS" panose="030F0702030302020204" pitchFamily="66" charset="0"/>
              </a:rPr>
              <a:t>Sharp rise</a:t>
            </a:r>
            <a:r>
              <a:rPr lang="en-US" dirty="0">
                <a:latin typeface="Comic Sans MS" panose="030F0702030302020204" pitchFamily="66" charset="0"/>
              </a:rPr>
              <a:t> in value — strong upward momentum.</a:t>
            </a:r>
          </a:p>
          <a:p>
            <a:r>
              <a:rPr lang="en-US" b="1" dirty="0">
                <a:latin typeface="Comic Sans MS" panose="030F0702030302020204" pitchFamily="66" charset="0"/>
              </a:rPr>
              <a:t>By 2020:</a:t>
            </a:r>
            <a:br>
              <a:rPr lang="en-US" dirty="0">
                <a:latin typeface="Comic Sans MS" panose="030F0702030302020204" pitchFamily="66" charset="0"/>
              </a:rPr>
            </a:br>
            <a:r>
              <a:rPr lang="en-US" dirty="0">
                <a:latin typeface="Comic Sans MS" panose="030F0702030302020204" pitchFamily="66" charset="0"/>
              </a:rPr>
              <a:t>Stock price nears </a:t>
            </a:r>
            <a:r>
              <a:rPr lang="en-US" b="1" dirty="0">
                <a:latin typeface="Comic Sans MS" panose="030F0702030302020204" pitchFamily="66" charset="0"/>
              </a:rPr>
              <a:t>₹5000</a:t>
            </a:r>
            <a:r>
              <a:rPr lang="en-US" dirty="0">
                <a:latin typeface="Comic Sans MS" panose="030F0702030302020204" pitchFamily="66" charset="0"/>
              </a:rPr>
              <a:t> — reflects strong performance and investor confidence.</a:t>
            </a:r>
          </a:p>
          <a:p>
            <a:endParaRPr lang="en-IN" dirty="0">
              <a:latin typeface="Comic Sans MS" panose="030F0702030302020204" pitchFamily="66" charset="0"/>
            </a:endParaRPr>
          </a:p>
        </p:txBody>
      </p:sp>
    </p:spTree>
    <p:extLst>
      <p:ext uri="{BB962C8B-B14F-4D97-AF65-F5344CB8AC3E}">
        <p14:creationId xmlns:p14="http://schemas.microsoft.com/office/powerpoint/2010/main" val="2914098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40993-2CAB-65EA-38D0-0D5B9663F01F}"/>
              </a:ext>
            </a:extLst>
          </p:cNvPr>
          <p:cNvSpPr>
            <a:spLocks noGrp="1"/>
          </p:cNvSpPr>
          <p:nvPr>
            <p:ph type="title"/>
          </p:nvPr>
        </p:nvSpPr>
        <p:spPr>
          <a:xfrm>
            <a:off x="108857" y="141514"/>
            <a:ext cx="11800114" cy="1273630"/>
          </a:xfrm>
        </p:spPr>
        <p:txBody>
          <a:bodyPr>
            <a:normAutofit/>
          </a:bodyPr>
          <a:lstStyle/>
          <a:p>
            <a:r>
              <a:rPr lang="en-US" sz="3200" b="1" dirty="0">
                <a:solidFill>
                  <a:srgbClr val="FF0000"/>
                </a:solidFill>
                <a:latin typeface="Comic Sans MS" panose="030F0702030302020204" pitchFamily="66" charset="0"/>
              </a:rPr>
              <a:t>13.1 Top 5 DAY with highest average price of stocks</a:t>
            </a:r>
            <a:endParaRPr lang="en-IN" sz="3200"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696F1801-BEE4-041B-9FDB-84010BF7DA06}"/>
              </a:ext>
            </a:extLst>
          </p:cNvPr>
          <p:cNvPicPr>
            <a:picLocks noGrp="1" noChangeAspect="1"/>
          </p:cNvPicPr>
          <p:nvPr>
            <p:ph sz="half" idx="1"/>
          </p:nvPr>
        </p:nvPicPr>
        <p:blipFill>
          <a:blip r:embed="rId2"/>
          <a:stretch>
            <a:fillRect/>
          </a:stretch>
        </p:blipFill>
        <p:spPr>
          <a:xfrm>
            <a:off x="108858" y="1328056"/>
            <a:ext cx="5290458" cy="5388429"/>
          </a:xfrm>
        </p:spPr>
      </p:pic>
      <p:sp>
        <p:nvSpPr>
          <p:cNvPr id="4" name="Content Placeholder 3">
            <a:extLst>
              <a:ext uri="{FF2B5EF4-FFF2-40B4-BE49-F238E27FC236}">
                <a16:creationId xmlns:a16="http://schemas.microsoft.com/office/drawing/2014/main" id="{3E645F1F-641D-350C-CB4B-DDAFB0051971}"/>
              </a:ext>
            </a:extLst>
          </p:cNvPr>
          <p:cNvSpPr>
            <a:spLocks noGrp="1"/>
          </p:cNvSpPr>
          <p:nvPr>
            <p:ph sz="half" idx="2"/>
          </p:nvPr>
        </p:nvSpPr>
        <p:spPr>
          <a:xfrm>
            <a:off x="5682344" y="1328057"/>
            <a:ext cx="6389913" cy="5170714"/>
          </a:xfrm>
        </p:spPr>
        <p:txBody>
          <a:bodyPr>
            <a:normAutofit fontScale="92500"/>
          </a:bodyPr>
          <a:lstStyle/>
          <a:p>
            <a:r>
              <a:rPr lang="en-US" dirty="0">
                <a:latin typeface="Comic Sans MS" panose="030F0702030302020204" pitchFamily="66" charset="0"/>
              </a:rPr>
              <a:t>#Insight:</a:t>
            </a:r>
          </a:p>
          <a:p>
            <a:r>
              <a:rPr lang="en-US" dirty="0">
                <a:solidFill>
                  <a:srgbClr val="FF0000"/>
                </a:solidFill>
                <a:latin typeface="Comic Sans MS" panose="030F0702030302020204" pitchFamily="66" charset="0"/>
              </a:rPr>
              <a:t>TCS’s stock price went very high on that 2021-09-16 </a:t>
            </a:r>
            <a:r>
              <a:rPr lang="en-US" dirty="0">
                <a:latin typeface="Comic Sans MS" panose="030F0702030302020204" pitchFamily="66" charset="0"/>
              </a:rPr>
              <a:t>— </a:t>
            </a:r>
          </a:p>
          <a:p>
            <a:endParaRPr lang="en-US" dirty="0">
              <a:latin typeface="Comic Sans MS" panose="030F0702030302020204" pitchFamily="66" charset="0"/>
            </a:endParaRPr>
          </a:p>
          <a:p>
            <a:r>
              <a:rPr lang="en-US" dirty="0">
                <a:latin typeface="Comic Sans MS" panose="030F0702030302020204" pitchFamily="66" charset="0"/>
              </a:rPr>
              <a:t>It had the highest average price ever.</a:t>
            </a:r>
          </a:p>
          <a:p>
            <a:r>
              <a:rPr lang="en-US" dirty="0">
                <a:solidFill>
                  <a:srgbClr val="FF0000"/>
                </a:solidFill>
                <a:latin typeface="Comic Sans MS" panose="030F0702030302020204" pitchFamily="66" charset="0"/>
              </a:rPr>
              <a:t>The reason was that TCS became the first Indian IT company to reach a $200 billion value in the stock market.</a:t>
            </a:r>
          </a:p>
          <a:p>
            <a:endParaRPr lang="en-US" dirty="0">
              <a:solidFill>
                <a:srgbClr val="FF0000"/>
              </a:solidFill>
              <a:latin typeface="Comic Sans MS" panose="030F0702030302020204" pitchFamily="66" charset="0"/>
            </a:endParaRPr>
          </a:p>
          <a:p>
            <a:pPr marL="0" indent="0">
              <a:buNone/>
            </a:pPr>
            <a:r>
              <a:rPr lang="en-US" dirty="0">
                <a:latin typeface="Comic Sans MS" panose="030F0702030302020204" pitchFamily="66" charset="0"/>
              </a:rPr>
              <a:t>This made a lot of investors excited, and they bought more shares, pushing the price even higher.</a:t>
            </a:r>
            <a:endParaRPr lang="en-IN" dirty="0">
              <a:latin typeface="Comic Sans MS" panose="030F0702030302020204" pitchFamily="66" charset="0"/>
            </a:endParaRPr>
          </a:p>
        </p:txBody>
      </p:sp>
    </p:spTree>
    <p:extLst>
      <p:ext uri="{BB962C8B-B14F-4D97-AF65-F5344CB8AC3E}">
        <p14:creationId xmlns:p14="http://schemas.microsoft.com/office/powerpoint/2010/main" val="2993952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7EA7-EA99-83C2-CDCE-DC7284090B94}"/>
              </a:ext>
            </a:extLst>
          </p:cNvPr>
          <p:cNvSpPr>
            <a:spLocks noGrp="1"/>
          </p:cNvSpPr>
          <p:nvPr>
            <p:ph type="title"/>
          </p:nvPr>
        </p:nvSpPr>
        <p:spPr>
          <a:xfrm>
            <a:off x="239486" y="152401"/>
            <a:ext cx="11876314" cy="1404256"/>
          </a:xfrm>
        </p:spPr>
        <p:txBody>
          <a:bodyPr>
            <a:normAutofit/>
          </a:bodyPr>
          <a:lstStyle/>
          <a:p>
            <a:r>
              <a:rPr lang="en-US" sz="3600" dirty="0">
                <a:solidFill>
                  <a:srgbClr val="FF0000"/>
                </a:solidFill>
                <a:latin typeface="Comic Sans MS" panose="030F0702030302020204" pitchFamily="66" charset="0"/>
              </a:rPr>
              <a:t>13.2 Top 5 DAYS With Lowest Average Stock Prices</a:t>
            </a:r>
            <a:endParaRPr lang="en-IN" sz="3600"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BFAA7B13-E246-0D70-DB9F-2788076E2E60}"/>
              </a:ext>
            </a:extLst>
          </p:cNvPr>
          <p:cNvPicPr>
            <a:picLocks noGrp="1" noChangeAspect="1"/>
          </p:cNvPicPr>
          <p:nvPr>
            <p:ph sz="half" idx="1"/>
          </p:nvPr>
        </p:nvPicPr>
        <p:blipFill>
          <a:blip r:embed="rId2"/>
          <a:stretch>
            <a:fillRect/>
          </a:stretch>
        </p:blipFill>
        <p:spPr>
          <a:xfrm>
            <a:off x="109797" y="1709057"/>
            <a:ext cx="5714061" cy="4876800"/>
          </a:xfrm>
        </p:spPr>
      </p:pic>
      <p:sp>
        <p:nvSpPr>
          <p:cNvPr id="4" name="Content Placeholder 3">
            <a:extLst>
              <a:ext uri="{FF2B5EF4-FFF2-40B4-BE49-F238E27FC236}">
                <a16:creationId xmlns:a16="http://schemas.microsoft.com/office/drawing/2014/main" id="{AE1BFD8B-25B3-3209-2A11-45842FFDE6E4}"/>
              </a:ext>
            </a:extLst>
          </p:cNvPr>
          <p:cNvSpPr>
            <a:spLocks noGrp="1"/>
          </p:cNvSpPr>
          <p:nvPr>
            <p:ph sz="half" idx="2"/>
          </p:nvPr>
        </p:nvSpPr>
        <p:spPr>
          <a:xfrm>
            <a:off x="6368142" y="1825624"/>
            <a:ext cx="5627915" cy="4575175"/>
          </a:xfrm>
        </p:spPr>
        <p:txBody>
          <a:bodyPr/>
          <a:lstStyle/>
          <a:p>
            <a:r>
              <a:rPr lang="en-US" dirty="0">
                <a:latin typeface="Comic Sans MS" panose="030F0702030302020204" pitchFamily="66" charset="0"/>
              </a:rPr>
              <a:t># Insight</a:t>
            </a:r>
          </a:p>
          <a:p>
            <a:endParaRPr lang="en-US" dirty="0">
              <a:latin typeface="Comic Sans MS" panose="030F0702030302020204" pitchFamily="66" charset="0"/>
            </a:endParaRPr>
          </a:p>
          <a:p>
            <a:r>
              <a:rPr lang="en-US" dirty="0">
                <a:latin typeface="Comic Sans MS" panose="030F0702030302020204" pitchFamily="66" charset="0"/>
              </a:rPr>
              <a:t>TCS had its lowest average stock price on </a:t>
            </a:r>
            <a:r>
              <a:rPr lang="en-US" dirty="0">
                <a:solidFill>
                  <a:srgbClr val="FF0000"/>
                </a:solidFill>
                <a:latin typeface="Comic Sans MS" panose="030F0702030302020204" pitchFamily="66" charset="0"/>
              </a:rPr>
              <a:t>August 19, 2002, at around ₹53.39.</a:t>
            </a:r>
          </a:p>
          <a:p>
            <a:r>
              <a:rPr lang="en-US" dirty="0">
                <a:latin typeface="Comic Sans MS" panose="030F0702030302020204" pitchFamily="66" charset="0"/>
              </a:rPr>
              <a:t>This was because it was </a:t>
            </a:r>
            <a:r>
              <a:rPr lang="en-US" dirty="0">
                <a:solidFill>
                  <a:srgbClr val="FF0000"/>
                </a:solidFill>
                <a:latin typeface="Comic Sans MS" panose="030F0702030302020204" pitchFamily="66" charset="0"/>
              </a:rPr>
              <a:t>early in the company’s journey,</a:t>
            </a:r>
            <a:r>
              <a:rPr lang="en-US" dirty="0">
                <a:latin typeface="Comic Sans MS" panose="030F0702030302020204" pitchFamily="66" charset="0"/>
              </a:rPr>
              <a:t> before it officially went public, and its value had not yet grown.</a:t>
            </a:r>
            <a:endParaRPr lang="en-IN" dirty="0">
              <a:latin typeface="Comic Sans MS" panose="030F0702030302020204" pitchFamily="66" charset="0"/>
            </a:endParaRPr>
          </a:p>
        </p:txBody>
      </p:sp>
    </p:spTree>
    <p:extLst>
      <p:ext uri="{BB962C8B-B14F-4D97-AF65-F5344CB8AC3E}">
        <p14:creationId xmlns:p14="http://schemas.microsoft.com/office/powerpoint/2010/main" val="3898246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3D79F-97F3-FE92-2B44-B38EF80A0EC6}"/>
              </a:ext>
            </a:extLst>
          </p:cNvPr>
          <p:cNvSpPr>
            <a:spLocks noGrp="1"/>
          </p:cNvSpPr>
          <p:nvPr>
            <p:ph type="title"/>
          </p:nvPr>
        </p:nvSpPr>
        <p:spPr>
          <a:xfrm>
            <a:off x="272143" y="141515"/>
            <a:ext cx="11081657" cy="1066799"/>
          </a:xfrm>
        </p:spPr>
        <p:txBody>
          <a:bodyPr/>
          <a:lstStyle/>
          <a:p>
            <a:r>
              <a:rPr lang="en-US" dirty="0">
                <a:solidFill>
                  <a:srgbClr val="FF0000"/>
                </a:solidFill>
                <a:latin typeface="Comic Sans MS" panose="030F0702030302020204" pitchFamily="66" charset="0"/>
              </a:rPr>
              <a:t>14. </a:t>
            </a:r>
            <a:r>
              <a:rPr lang="en-IN" dirty="0">
                <a:solidFill>
                  <a:srgbClr val="FF0000"/>
                </a:solidFill>
                <a:latin typeface="Comic Sans MS" panose="030F0702030302020204" pitchFamily="66" charset="0"/>
              </a:rPr>
              <a:t>Intraday Volatility</a:t>
            </a:r>
          </a:p>
        </p:txBody>
      </p:sp>
      <p:pic>
        <p:nvPicPr>
          <p:cNvPr id="6" name="Content Placeholder 5">
            <a:extLst>
              <a:ext uri="{FF2B5EF4-FFF2-40B4-BE49-F238E27FC236}">
                <a16:creationId xmlns:a16="http://schemas.microsoft.com/office/drawing/2014/main" id="{B533B443-5C0D-8E6F-F601-B8D376B216C7}"/>
              </a:ext>
            </a:extLst>
          </p:cNvPr>
          <p:cNvPicPr>
            <a:picLocks noGrp="1" noChangeAspect="1"/>
          </p:cNvPicPr>
          <p:nvPr>
            <p:ph sz="half" idx="1"/>
          </p:nvPr>
        </p:nvPicPr>
        <p:blipFill>
          <a:blip r:embed="rId2"/>
          <a:stretch>
            <a:fillRect/>
          </a:stretch>
        </p:blipFill>
        <p:spPr>
          <a:xfrm>
            <a:off x="130629" y="1338943"/>
            <a:ext cx="5399314" cy="5377541"/>
          </a:xfrm>
        </p:spPr>
      </p:pic>
      <p:sp>
        <p:nvSpPr>
          <p:cNvPr id="4" name="Content Placeholder 3">
            <a:extLst>
              <a:ext uri="{FF2B5EF4-FFF2-40B4-BE49-F238E27FC236}">
                <a16:creationId xmlns:a16="http://schemas.microsoft.com/office/drawing/2014/main" id="{1BA43795-A1DC-A508-1769-EC5DDD4197CA}"/>
              </a:ext>
            </a:extLst>
          </p:cNvPr>
          <p:cNvSpPr>
            <a:spLocks noGrp="1"/>
          </p:cNvSpPr>
          <p:nvPr>
            <p:ph sz="half" idx="2"/>
          </p:nvPr>
        </p:nvSpPr>
        <p:spPr>
          <a:xfrm>
            <a:off x="5693229" y="1338943"/>
            <a:ext cx="6270171" cy="5290457"/>
          </a:xfrm>
        </p:spPr>
        <p:txBody>
          <a:bodyPr>
            <a:normAutofit fontScale="62500" lnSpcReduction="20000"/>
          </a:bodyPr>
          <a:lstStyle/>
          <a:p>
            <a:pPr marL="0" indent="0">
              <a:buNone/>
            </a:pPr>
            <a:r>
              <a:rPr lang="en-US" dirty="0">
                <a:latin typeface="Comic Sans MS" panose="030F0702030302020204" pitchFamily="66" charset="0"/>
              </a:rPr>
              <a:t> 1.Intraday volatility refers to the </a:t>
            </a:r>
            <a:r>
              <a:rPr lang="en-US" b="1" dirty="0">
                <a:latin typeface="Comic Sans MS" panose="030F0702030302020204" pitchFamily="66" charset="0"/>
              </a:rPr>
              <a:t>price fluctuations of a stock within a single trading day</a:t>
            </a:r>
            <a:r>
              <a:rPr lang="en-US" dirty="0">
                <a:latin typeface="Comic Sans MS" panose="030F0702030302020204" pitchFamily="66" charset="0"/>
              </a:rPr>
              <a:t>.</a:t>
            </a:r>
          </a:p>
          <a:p>
            <a:pPr marL="0" indent="0">
              <a:buNone/>
            </a:pPr>
            <a:endParaRPr lang="en-US" dirty="0">
              <a:latin typeface="Comic Sans MS" panose="030F0702030302020204" pitchFamily="66" charset="0"/>
            </a:endParaRPr>
          </a:p>
          <a:p>
            <a:pPr marL="0" indent="0">
              <a:buNone/>
            </a:pPr>
            <a:r>
              <a:rPr lang="en-US" dirty="0">
                <a:latin typeface="Comic Sans MS" panose="030F0702030302020204" pitchFamily="66" charset="0"/>
              </a:rPr>
              <a:t>A stock is said be highly volatile if </a:t>
            </a:r>
            <a:r>
              <a:rPr lang="en-US" dirty="0" err="1">
                <a:latin typeface="Comic Sans MS" panose="030F0702030302020204" pitchFamily="66" charset="0"/>
              </a:rPr>
              <a:t>intradity</a:t>
            </a:r>
            <a:r>
              <a:rPr lang="en-US" dirty="0">
                <a:latin typeface="Comic Sans MS" panose="030F0702030302020204" pitchFamily="66" charset="0"/>
              </a:rPr>
              <a:t> volatility is </a:t>
            </a:r>
            <a:r>
              <a:rPr lang="en-US" dirty="0">
                <a:solidFill>
                  <a:srgbClr val="FF0000"/>
                </a:solidFill>
                <a:latin typeface="Comic Sans MS" panose="030F0702030302020204" pitchFamily="66" charset="0"/>
              </a:rPr>
              <a:t>between 3 to 5 percent:</a:t>
            </a:r>
          </a:p>
          <a:p>
            <a:pPr marL="0" indent="0">
              <a:buNone/>
            </a:pPr>
            <a:r>
              <a:rPr lang="en-US" dirty="0">
                <a:latin typeface="Comic Sans MS" panose="030F0702030302020204" pitchFamily="66" charset="0"/>
              </a:rPr>
              <a:t> </a:t>
            </a:r>
          </a:p>
          <a:p>
            <a:pPr marL="0" indent="0">
              <a:buNone/>
            </a:pPr>
            <a:r>
              <a:rPr lang="en-US" dirty="0" err="1">
                <a:latin typeface="Comic Sans MS" panose="030F0702030302020204" pitchFamily="66" charset="0"/>
              </a:rPr>
              <a:t>intraday_volatility</a:t>
            </a:r>
            <a:r>
              <a:rPr lang="en-US" dirty="0">
                <a:latin typeface="Comic Sans MS" panose="030F0702030302020204" pitchFamily="66" charset="0"/>
              </a:rPr>
              <a:t>_% = ((high-low)/open)) * 100</a:t>
            </a:r>
          </a:p>
          <a:p>
            <a:pPr marL="0" indent="0">
              <a:buNone/>
            </a:pPr>
            <a:endParaRPr lang="en-US" dirty="0">
              <a:latin typeface="Comic Sans MS" panose="030F0702030302020204" pitchFamily="66" charset="0"/>
            </a:endParaRPr>
          </a:p>
          <a:p>
            <a:pPr marL="0" indent="0">
              <a:buNone/>
            </a:pPr>
            <a:r>
              <a:rPr lang="en-US" dirty="0" err="1">
                <a:solidFill>
                  <a:srgbClr val="FF0000"/>
                </a:solidFill>
                <a:latin typeface="Comic Sans MS" panose="030F0702030302020204" pitchFamily="66" charset="0"/>
              </a:rPr>
              <a:t>if'Intraday_Volatility</a:t>
            </a:r>
            <a:r>
              <a:rPr lang="en-US" dirty="0">
                <a:solidFill>
                  <a:srgbClr val="FF0000"/>
                </a:solidFill>
                <a:latin typeface="Comic Sans MS" panose="030F0702030302020204" pitchFamily="66" charset="0"/>
              </a:rPr>
              <a:t>_% &lt;= 1.5 then "</a:t>
            </a:r>
            <a:r>
              <a:rPr lang="en-US" dirty="0" err="1">
                <a:solidFill>
                  <a:srgbClr val="FF0000"/>
                </a:solidFill>
                <a:latin typeface="Comic Sans MS" panose="030F0702030302020204" pitchFamily="66" charset="0"/>
              </a:rPr>
              <a:t>Low_Volatile</a:t>
            </a:r>
            <a:r>
              <a:rPr lang="en-US" dirty="0">
                <a:solidFill>
                  <a:srgbClr val="FF0000"/>
                </a:solidFill>
                <a:latin typeface="Comic Sans MS" panose="030F0702030302020204" pitchFamily="66" charset="0"/>
              </a:rPr>
              <a:t>“</a:t>
            </a:r>
          </a:p>
          <a:p>
            <a:pPr marL="0" indent="0">
              <a:buNone/>
            </a:pPr>
            <a:r>
              <a:rPr lang="en-US" dirty="0">
                <a:solidFill>
                  <a:srgbClr val="FF0000"/>
                </a:solidFill>
                <a:latin typeface="Comic Sans MS" panose="030F0702030302020204" pitchFamily="66" charset="0"/>
              </a:rPr>
              <a:t>if '</a:t>
            </a:r>
            <a:r>
              <a:rPr lang="en-US" dirty="0" err="1">
                <a:solidFill>
                  <a:srgbClr val="FF0000"/>
                </a:solidFill>
                <a:latin typeface="Comic Sans MS" panose="030F0702030302020204" pitchFamily="66" charset="0"/>
              </a:rPr>
              <a:t>Intraday_Volatility</a:t>
            </a:r>
            <a:r>
              <a:rPr lang="en-US" dirty="0">
                <a:solidFill>
                  <a:srgbClr val="FF0000"/>
                </a:solidFill>
                <a:latin typeface="Comic Sans MS" panose="030F0702030302020204" pitchFamily="66" charset="0"/>
              </a:rPr>
              <a:t>_% &gt;1.5 and &lt;=3.5 then "Volatile</a:t>
            </a:r>
          </a:p>
          <a:p>
            <a:pPr marL="0" indent="0">
              <a:buNone/>
            </a:pPr>
            <a:r>
              <a:rPr lang="en-US" dirty="0">
                <a:solidFill>
                  <a:srgbClr val="FF0000"/>
                </a:solidFill>
                <a:latin typeface="Comic Sans MS" panose="030F0702030302020204" pitchFamily="66" charset="0"/>
              </a:rPr>
              <a:t>else "High Volatile“</a:t>
            </a:r>
          </a:p>
          <a:p>
            <a:pPr marL="0" indent="0">
              <a:buNone/>
            </a:pPr>
            <a:endParaRPr lang="en-US" dirty="0">
              <a:latin typeface="Comic Sans MS" panose="030F0702030302020204" pitchFamily="66" charset="0"/>
            </a:endParaRPr>
          </a:p>
          <a:p>
            <a:pPr marL="0" indent="0">
              <a:buNone/>
            </a:pPr>
            <a:r>
              <a:rPr lang="en-US" b="1" dirty="0">
                <a:latin typeface="Comic Sans MS" panose="030F0702030302020204" pitchFamily="66" charset="0"/>
              </a:rPr>
              <a:t>Moderate Volatility:</a:t>
            </a:r>
            <a:br>
              <a:rPr lang="en-US" dirty="0">
                <a:latin typeface="Comic Sans MS" panose="030F0702030302020204" pitchFamily="66" charset="0"/>
              </a:rPr>
            </a:br>
            <a:r>
              <a:rPr lang="en-US" dirty="0">
                <a:solidFill>
                  <a:srgbClr val="FF0000"/>
                </a:solidFill>
                <a:latin typeface="Comic Sans MS" panose="030F0702030302020204" pitchFamily="66" charset="0"/>
              </a:rPr>
              <a:t>Most frequent — </a:t>
            </a:r>
            <a:r>
              <a:rPr lang="en-US" b="1" dirty="0">
                <a:solidFill>
                  <a:srgbClr val="FF0000"/>
                </a:solidFill>
                <a:latin typeface="Comic Sans MS" panose="030F0702030302020204" pitchFamily="66" charset="0"/>
              </a:rPr>
              <a:t>2,636 days</a:t>
            </a:r>
            <a:r>
              <a:rPr lang="en-US" dirty="0">
                <a:latin typeface="Comic Sans MS" panose="030F0702030302020204" pitchFamily="66" charset="0"/>
              </a:rPr>
              <a:t>; indicates steady trading.</a:t>
            </a:r>
          </a:p>
          <a:p>
            <a:pPr marL="0" indent="0">
              <a:buNone/>
            </a:pPr>
            <a:r>
              <a:rPr lang="en-US" b="1" dirty="0">
                <a:latin typeface="Comic Sans MS" panose="030F0702030302020204" pitchFamily="66" charset="0"/>
              </a:rPr>
              <a:t>High Volatility:</a:t>
            </a:r>
            <a:br>
              <a:rPr lang="en-US" dirty="0">
                <a:latin typeface="Comic Sans MS" panose="030F0702030302020204" pitchFamily="66" charset="0"/>
              </a:rPr>
            </a:br>
            <a:r>
              <a:rPr lang="en-US" dirty="0">
                <a:solidFill>
                  <a:srgbClr val="FF0000"/>
                </a:solidFill>
                <a:latin typeface="Comic Sans MS" panose="030F0702030302020204" pitchFamily="66" charset="0"/>
              </a:rPr>
              <a:t>Significant — </a:t>
            </a:r>
            <a:r>
              <a:rPr lang="en-US" b="1" dirty="0">
                <a:solidFill>
                  <a:srgbClr val="FF0000"/>
                </a:solidFill>
                <a:latin typeface="Comic Sans MS" panose="030F0702030302020204" pitchFamily="66" charset="0"/>
              </a:rPr>
              <a:t>1,018 days</a:t>
            </a:r>
            <a:r>
              <a:rPr lang="en-US" dirty="0">
                <a:latin typeface="Comic Sans MS" panose="030F0702030302020204" pitchFamily="66" charset="0"/>
              </a:rPr>
              <a:t>; likely due to news or earnings.</a:t>
            </a:r>
          </a:p>
          <a:p>
            <a:pPr marL="0" indent="0">
              <a:buNone/>
            </a:pPr>
            <a:r>
              <a:rPr lang="en-US" b="1" dirty="0">
                <a:latin typeface="Comic Sans MS" panose="030F0702030302020204" pitchFamily="66" charset="0"/>
              </a:rPr>
              <a:t>Low Volatility:</a:t>
            </a:r>
            <a:br>
              <a:rPr lang="en-US" dirty="0">
                <a:latin typeface="Comic Sans MS" panose="030F0702030302020204" pitchFamily="66" charset="0"/>
              </a:rPr>
            </a:br>
            <a:r>
              <a:rPr lang="en-US" dirty="0">
                <a:latin typeface="Comic Sans MS" panose="030F0702030302020204" pitchFamily="66" charset="0"/>
              </a:rPr>
              <a:t>Least common — calm days were rare.</a:t>
            </a:r>
          </a:p>
          <a:p>
            <a:pPr marL="0" indent="0">
              <a:buNone/>
            </a:pPr>
            <a:endParaRPr lang="en-IN" dirty="0">
              <a:latin typeface="Comic Sans MS" panose="030F0702030302020204" pitchFamily="66" charset="0"/>
            </a:endParaRPr>
          </a:p>
        </p:txBody>
      </p:sp>
    </p:spTree>
    <p:extLst>
      <p:ext uri="{BB962C8B-B14F-4D97-AF65-F5344CB8AC3E}">
        <p14:creationId xmlns:p14="http://schemas.microsoft.com/office/powerpoint/2010/main" val="552314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F712-5EF6-8D36-6289-CAB7612CBBFF}"/>
              </a:ext>
            </a:extLst>
          </p:cNvPr>
          <p:cNvSpPr>
            <a:spLocks noGrp="1"/>
          </p:cNvSpPr>
          <p:nvPr>
            <p:ph type="title"/>
          </p:nvPr>
        </p:nvSpPr>
        <p:spPr>
          <a:xfrm>
            <a:off x="97972" y="365126"/>
            <a:ext cx="5921830" cy="832304"/>
          </a:xfrm>
        </p:spPr>
        <p:txBody>
          <a:bodyPr/>
          <a:lstStyle/>
          <a:p>
            <a:r>
              <a:rPr lang="en-US" dirty="0">
                <a:solidFill>
                  <a:srgbClr val="FF0000"/>
                </a:solidFill>
                <a:latin typeface="Comic Sans MS" panose="030F0702030302020204" pitchFamily="66" charset="0"/>
              </a:rPr>
              <a:t>15.Return Percentage</a:t>
            </a:r>
            <a:endParaRPr lang="en-IN" dirty="0">
              <a:solidFill>
                <a:srgbClr val="FF0000"/>
              </a:solidFill>
              <a:latin typeface="Comic Sans MS" panose="030F0702030302020204" pitchFamily="66" charset="0"/>
            </a:endParaRPr>
          </a:p>
        </p:txBody>
      </p:sp>
      <p:pic>
        <p:nvPicPr>
          <p:cNvPr id="7" name="Content Placeholder 6">
            <a:extLst>
              <a:ext uri="{FF2B5EF4-FFF2-40B4-BE49-F238E27FC236}">
                <a16:creationId xmlns:a16="http://schemas.microsoft.com/office/drawing/2014/main" id="{87D09443-6D80-3A5A-1B4F-DC2A3FD4B2EE}"/>
              </a:ext>
            </a:extLst>
          </p:cNvPr>
          <p:cNvPicPr>
            <a:picLocks noGrp="1" noChangeAspect="1"/>
          </p:cNvPicPr>
          <p:nvPr>
            <p:ph sz="half" idx="1"/>
          </p:nvPr>
        </p:nvPicPr>
        <p:blipFill>
          <a:blip r:embed="rId2"/>
          <a:stretch>
            <a:fillRect/>
          </a:stretch>
        </p:blipFill>
        <p:spPr>
          <a:xfrm>
            <a:off x="228601" y="1404257"/>
            <a:ext cx="5584371" cy="5088617"/>
          </a:xfrm>
        </p:spPr>
      </p:pic>
      <p:sp>
        <p:nvSpPr>
          <p:cNvPr id="5" name="Rectangle 1">
            <a:extLst>
              <a:ext uri="{FF2B5EF4-FFF2-40B4-BE49-F238E27FC236}">
                <a16:creationId xmlns:a16="http://schemas.microsoft.com/office/drawing/2014/main" id="{A6D21AA1-D50F-8F2A-73FE-A1AA14E68F7B}"/>
              </a:ext>
            </a:extLst>
          </p:cNvPr>
          <p:cNvSpPr>
            <a:spLocks noGrp="1" noChangeArrowheads="1"/>
          </p:cNvSpPr>
          <p:nvPr>
            <p:ph sz="half" idx="2"/>
          </p:nvPr>
        </p:nvSpPr>
        <p:spPr bwMode="auto">
          <a:xfrm>
            <a:off x="6379028" y="498630"/>
            <a:ext cx="5584371"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000" b="1" dirty="0">
                <a:solidFill>
                  <a:srgbClr val="FFFF00"/>
                </a:solidFill>
                <a:latin typeface="Comic Sans MS" panose="030F0702030302020204" pitchFamily="66" charset="0"/>
              </a:rPr>
              <a:t>Return Percentage tells you how much profit or loss you made (or could have made) on a stock over a period of time — expressed as a percentage of your original investment.</a:t>
            </a:r>
            <a:endParaRPr kumimoji="0" lang="en-US" altLang="en-US" sz="2000" b="1" i="0" u="none" strike="noStrike" cap="none" normalizeH="0" baseline="0" dirty="0">
              <a:ln>
                <a:noFill/>
              </a:ln>
              <a:solidFill>
                <a:srgbClr val="FFFF0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0000"/>
                </a:solidFill>
                <a:effectLst/>
                <a:latin typeface="Comic Sans MS" panose="030F0702030302020204" pitchFamily="66" charset="0"/>
              </a:rPr>
              <a:t>Highest return</a:t>
            </a:r>
            <a:r>
              <a:rPr kumimoji="0" lang="en-US" altLang="en-US" sz="2000" b="0" i="0" u="none" strike="noStrike" cap="none" normalizeH="0" baseline="0" dirty="0">
                <a:ln>
                  <a:noFill/>
                </a:ln>
                <a:solidFill>
                  <a:srgbClr val="FF0000"/>
                </a:solidFill>
                <a:effectLst/>
                <a:latin typeface="Comic Sans MS" panose="030F0702030302020204" pitchFamily="66" charset="0"/>
              </a:rPr>
              <a:t> was on </a:t>
            </a:r>
            <a:r>
              <a:rPr kumimoji="0" lang="en-US" altLang="en-US" sz="2000" b="1" i="0" u="none" strike="noStrike" cap="none" normalizeH="0" baseline="0" dirty="0">
                <a:ln>
                  <a:noFill/>
                </a:ln>
                <a:solidFill>
                  <a:srgbClr val="FF0000"/>
                </a:solidFill>
                <a:effectLst/>
                <a:latin typeface="Comic Sans MS" panose="030F0702030302020204" pitchFamily="66" charset="0"/>
              </a:rPr>
              <a:t>2003-03-31</a:t>
            </a:r>
            <a:r>
              <a:rPr kumimoji="0" lang="en-US" altLang="en-US" sz="2000" b="0" i="0" u="none" strike="noStrike" cap="none" normalizeH="0" baseline="0" dirty="0">
                <a:ln>
                  <a:noFill/>
                </a:ln>
                <a:solidFill>
                  <a:srgbClr val="FF0000"/>
                </a:solidFill>
                <a:effectLst/>
                <a:latin typeface="Comic Sans MS" panose="030F0702030302020204" pitchFamily="66" charset="0"/>
              </a:rPr>
              <a:t> at </a:t>
            </a:r>
            <a:r>
              <a:rPr kumimoji="0" lang="en-US" altLang="en-US" sz="2000" b="1" i="0" u="none" strike="noStrike" cap="none" normalizeH="0" baseline="0" dirty="0">
                <a:ln>
                  <a:noFill/>
                </a:ln>
                <a:solidFill>
                  <a:srgbClr val="FF0000"/>
                </a:solidFill>
                <a:effectLst/>
                <a:latin typeface="Comic Sans MS" panose="030F0702030302020204" pitchFamily="66" charset="0"/>
              </a:rPr>
              <a:t>18.21%</a:t>
            </a:r>
            <a:r>
              <a:rPr kumimoji="0" lang="en-US" altLang="en-US" sz="2000" b="0" i="0" u="none" strike="noStrike" cap="none" normalizeH="0" baseline="0" dirty="0">
                <a:ln>
                  <a:noFill/>
                </a:ln>
                <a:solidFill>
                  <a:srgbClr val="FF0000"/>
                </a:solidFill>
                <a:effectLst/>
                <a:latin typeface="Comic Sans MS" panose="030F0702030302020204" pitchFamily="66" charset="0"/>
              </a:rPr>
              <a:t>, likely due to strong market recovery.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mic Sans MS" panose="030F0702030302020204" pitchFamily="66" charset="0"/>
              </a:rPr>
              <a:t>2009-07-20 (12.48%)</a:t>
            </a:r>
            <a:r>
              <a:rPr kumimoji="0" lang="en-US" altLang="en-US" sz="2000" b="0" i="0" u="none" strike="noStrike" cap="none" normalizeH="0" baseline="0" dirty="0">
                <a:ln>
                  <a:noFill/>
                </a:ln>
                <a:solidFill>
                  <a:schemeClr val="tx1"/>
                </a:solidFill>
                <a:effectLst/>
                <a:latin typeface="Comic Sans MS" panose="030F0702030302020204" pitchFamily="66" charset="0"/>
              </a:rPr>
              <a:t> and </a:t>
            </a:r>
            <a:r>
              <a:rPr kumimoji="0" lang="en-US" altLang="en-US" sz="2000" b="1" i="0" u="none" strike="noStrike" cap="none" normalizeH="0" baseline="0" dirty="0">
                <a:ln>
                  <a:noFill/>
                </a:ln>
                <a:solidFill>
                  <a:schemeClr val="tx1"/>
                </a:solidFill>
                <a:effectLst/>
                <a:latin typeface="Comic Sans MS" panose="030F0702030302020204" pitchFamily="66" charset="0"/>
              </a:rPr>
              <a:t>2008-09-30 (12.43%)</a:t>
            </a:r>
            <a:r>
              <a:rPr kumimoji="0" lang="en-US" altLang="en-US" sz="2000" b="0" i="0" u="none" strike="noStrike" cap="none" normalizeH="0" baseline="0" dirty="0">
                <a:ln>
                  <a:noFill/>
                </a:ln>
                <a:solidFill>
                  <a:schemeClr val="tx1"/>
                </a:solidFill>
                <a:effectLst/>
                <a:latin typeface="Comic Sans MS" panose="030F0702030302020204" pitchFamily="66" charset="0"/>
              </a:rPr>
              <a:t> reflect </a:t>
            </a:r>
            <a:r>
              <a:rPr kumimoji="0" lang="en-US" altLang="en-US" sz="2000" b="1" i="0" u="none" strike="noStrike" cap="none" normalizeH="0" baseline="0" dirty="0">
                <a:ln>
                  <a:noFill/>
                </a:ln>
                <a:solidFill>
                  <a:schemeClr val="tx1"/>
                </a:solidFill>
                <a:effectLst/>
                <a:latin typeface="Comic Sans MS" panose="030F0702030302020204" pitchFamily="66" charset="0"/>
              </a:rPr>
              <a:t>post-crisis market volatility</a:t>
            </a:r>
            <a:r>
              <a:rPr kumimoji="0" lang="en-US" altLang="en-US" sz="2000" b="0" i="0" u="none" strike="noStrike" cap="none" normalizeH="0" baseline="0" dirty="0">
                <a:ln>
                  <a:noFill/>
                </a:ln>
                <a:solidFill>
                  <a:schemeClr val="tx1"/>
                </a:solidFill>
                <a:effectLst/>
                <a:latin typeface="Comic Sans MS" panose="030F0702030302020204" pitchFamily="66" charset="0"/>
              </a:rPr>
              <a:t> during the 2008 financial crisis.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mic Sans MS" panose="030F0702030302020204" pitchFamily="66" charset="0"/>
              </a:rPr>
              <a:t>2020-03-20 (10.27%)</a:t>
            </a:r>
            <a:r>
              <a:rPr kumimoji="0" lang="en-US" altLang="en-US" sz="2000" b="0" i="0" u="none" strike="noStrike" cap="none" normalizeH="0" baseline="0" dirty="0">
                <a:ln>
                  <a:noFill/>
                </a:ln>
                <a:solidFill>
                  <a:schemeClr val="tx1"/>
                </a:solidFill>
                <a:effectLst/>
                <a:latin typeface="Comic Sans MS" panose="030F0702030302020204" pitchFamily="66" charset="0"/>
              </a:rPr>
              <a:t> return came during the </a:t>
            </a:r>
            <a:r>
              <a:rPr kumimoji="0" lang="en-US" altLang="en-US" sz="2000" b="1" i="0" u="none" strike="noStrike" cap="none" normalizeH="0" baseline="0" dirty="0">
                <a:ln>
                  <a:noFill/>
                </a:ln>
                <a:solidFill>
                  <a:schemeClr val="tx1"/>
                </a:solidFill>
                <a:effectLst/>
                <a:latin typeface="Comic Sans MS" panose="030F0702030302020204" pitchFamily="66" charset="0"/>
              </a:rPr>
              <a:t>COVID-19 crash rebound</a:t>
            </a:r>
            <a:r>
              <a:rPr kumimoji="0" lang="en-US" altLang="en-US" sz="2000" b="0" i="0" u="none" strike="noStrike" cap="none" normalizeH="0" baseline="0" dirty="0">
                <a:ln>
                  <a:noFill/>
                </a:ln>
                <a:solidFill>
                  <a:schemeClr val="tx1"/>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omic Sans MS" panose="030F0702030302020204" pitchFamily="66" charset="0"/>
              </a:rPr>
              <a:t>These spikes highlight how markets respond sharply during </a:t>
            </a:r>
            <a:r>
              <a:rPr kumimoji="0" lang="en-US" altLang="en-US" sz="2000" b="1" i="0" u="none" strike="noStrike" cap="none" normalizeH="0" baseline="0" dirty="0">
                <a:ln>
                  <a:noFill/>
                </a:ln>
                <a:solidFill>
                  <a:schemeClr val="tx1"/>
                </a:solidFill>
                <a:effectLst/>
                <a:latin typeface="Comic Sans MS" panose="030F0702030302020204" pitchFamily="66" charset="0"/>
              </a:rPr>
              <a:t>major economic events</a:t>
            </a:r>
            <a:r>
              <a:rPr kumimoji="0" lang="en-US" altLang="en-US" sz="2000" b="0" i="0" u="none" strike="noStrike" cap="none" normalizeH="0" baseline="0" dirty="0">
                <a:ln>
                  <a:noFill/>
                </a:ln>
                <a:solidFill>
                  <a:schemeClr val="tx1"/>
                </a:solidFill>
                <a:effectLst/>
                <a:latin typeface="Comic Sans MS" panose="030F0702030302020204" pitchFamily="66" charset="0"/>
              </a:rPr>
              <a:t>.</a:t>
            </a:r>
          </a:p>
        </p:txBody>
      </p:sp>
    </p:spTree>
    <p:extLst>
      <p:ext uri="{BB962C8B-B14F-4D97-AF65-F5344CB8AC3E}">
        <p14:creationId xmlns:p14="http://schemas.microsoft.com/office/powerpoint/2010/main" val="1566766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DBEFD-F0F2-4B70-82FC-CEBB6AECBA0D}"/>
              </a:ext>
            </a:extLst>
          </p:cNvPr>
          <p:cNvSpPr>
            <a:spLocks noGrp="1"/>
          </p:cNvSpPr>
          <p:nvPr>
            <p:ph type="title"/>
          </p:nvPr>
        </p:nvSpPr>
        <p:spPr>
          <a:xfrm>
            <a:off x="217714" y="185058"/>
            <a:ext cx="11811000" cy="936172"/>
          </a:xfrm>
        </p:spPr>
        <p:txBody>
          <a:bodyPr>
            <a:normAutofit fontScale="90000"/>
          </a:bodyPr>
          <a:lstStyle/>
          <a:p>
            <a:r>
              <a:rPr lang="en-US" b="1" dirty="0">
                <a:solidFill>
                  <a:srgbClr val="FF0000"/>
                </a:solidFill>
                <a:latin typeface="Comic Sans MS" panose="030F0702030302020204" pitchFamily="66" charset="0"/>
              </a:rPr>
              <a:t>16 Dates with continuous Increasing stock prices streaks.</a:t>
            </a:r>
            <a:endParaRPr lang="en-IN" b="1" dirty="0">
              <a:latin typeface="Comic Sans MS" panose="030F0702030302020204" pitchFamily="66" charset="0"/>
            </a:endParaRPr>
          </a:p>
        </p:txBody>
      </p:sp>
      <p:pic>
        <p:nvPicPr>
          <p:cNvPr id="6" name="Content Placeholder 5">
            <a:extLst>
              <a:ext uri="{FF2B5EF4-FFF2-40B4-BE49-F238E27FC236}">
                <a16:creationId xmlns:a16="http://schemas.microsoft.com/office/drawing/2014/main" id="{E74B7826-4D32-1135-D986-9D731D3EF324}"/>
              </a:ext>
            </a:extLst>
          </p:cNvPr>
          <p:cNvPicPr>
            <a:picLocks noGrp="1" noChangeAspect="1"/>
          </p:cNvPicPr>
          <p:nvPr>
            <p:ph sz="half" idx="1"/>
          </p:nvPr>
        </p:nvPicPr>
        <p:blipFill>
          <a:blip r:embed="rId2"/>
          <a:stretch>
            <a:fillRect/>
          </a:stretch>
        </p:blipFill>
        <p:spPr>
          <a:xfrm>
            <a:off x="141514" y="1643743"/>
            <a:ext cx="5878287" cy="4811486"/>
          </a:xfrm>
        </p:spPr>
      </p:pic>
      <p:sp>
        <p:nvSpPr>
          <p:cNvPr id="4" name="Content Placeholder 3">
            <a:extLst>
              <a:ext uri="{FF2B5EF4-FFF2-40B4-BE49-F238E27FC236}">
                <a16:creationId xmlns:a16="http://schemas.microsoft.com/office/drawing/2014/main" id="{D6164366-9473-46FE-ECFF-88E25438E420}"/>
              </a:ext>
            </a:extLst>
          </p:cNvPr>
          <p:cNvSpPr>
            <a:spLocks noGrp="1"/>
          </p:cNvSpPr>
          <p:nvPr>
            <p:ph sz="half" idx="2"/>
          </p:nvPr>
        </p:nvSpPr>
        <p:spPr>
          <a:xfrm>
            <a:off x="6172200" y="1730829"/>
            <a:ext cx="5856513" cy="4724400"/>
          </a:xfrm>
        </p:spPr>
        <p:txBody>
          <a:bodyPr>
            <a:normAutofit fontScale="92500" lnSpcReduction="10000"/>
          </a:bodyPr>
          <a:lstStyle/>
          <a:p>
            <a:r>
              <a:rPr lang="en-US" sz="3200" dirty="0">
                <a:solidFill>
                  <a:srgbClr val="FF0000"/>
                </a:solidFill>
              </a:rPr>
              <a:t>Insight:</a:t>
            </a:r>
          </a:p>
          <a:p>
            <a:endParaRPr lang="en-US" sz="3200" dirty="0">
              <a:solidFill>
                <a:srgbClr val="FF0000"/>
              </a:solidFill>
            </a:endParaRPr>
          </a:p>
          <a:p>
            <a:r>
              <a:rPr lang="en-US" dirty="0">
                <a:solidFill>
                  <a:srgbClr val="FF0000"/>
                </a:solidFill>
              </a:rPr>
              <a:t>There are 2842 days from 2002-01-01 to 2021-12-31 when market was closed</a:t>
            </a:r>
          </a:p>
          <a:p>
            <a:endParaRPr lang="en-US" dirty="0"/>
          </a:p>
          <a:p>
            <a:r>
              <a:rPr lang="en-US" dirty="0">
                <a:latin typeface="Comic Sans MS" panose="030F0702030302020204" pitchFamily="66" charset="0"/>
              </a:rPr>
              <a:t>The 10-day continuous price rise in August 2021 was primarily due to strong Q1 earnings, global and domestic tech sector optimism,</a:t>
            </a:r>
          </a:p>
          <a:p>
            <a:r>
              <a:rPr lang="en-US" dirty="0">
                <a:latin typeface="Comic Sans MS" panose="030F0702030302020204" pitchFamily="66" charset="0"/>
              </a:rPr>
              <a:t>and renewed investor confidence post-COVID disruptions</a:t>
            </a:r>
          </a:p>
          <a:p>
            <a:endParaRPr lang="en-IN" dirty="0"/>
          </a:p>
        </p:txBody>
      </p:sp>
    </p:spTree>
    <p:extLst>
      <p:ext uri="{BB962C8B-B14F-4D97-AF65-F5344CB8AC3E}">
        <p14:creationId xmlns:p14="http://schemas.microsoft.com/office/powerpoint/2010/main" val="1363680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B971-1D57-94C3-EEE9-CD4CE89B918A}"/>
              </a:ext>
            </a:extLst>
          </p:cNvPr>
          <p:cNvSpPr>
            <a:spLocks noGrp="1"/>
          </p:cNvSpPr>
          <p:nvPr>
            <p:ph type="title"/>
          </p:nvPr>
        </p:nvSpPr>
        <p:spPr>
          <a:xfrm>
            <a:off x="261257" y="239487"/>
            <a:ext cx="11843657" cy="1273628"/>
          </a:xfrm>
        </p:spPr>
        <p:txBody>
          <a:bodyPr>
            <a:normAutofit fontScale="90000"/>
          </a:bodyPr>
          <a:lstStyle/>
          <a:p>
            <a:r>
              <a:rPr lang="en-US" b="1" dirty="0">
                <a:solidFill>
                  <a:srgbClr val="FF0000"/>
                </a:solidFill>
                <a:latin typeface="Comic Sans MS" panose="030F0702030302020204" pitchFamily="66" charset="0"/>
              </a:rPr>
              <a:t>17.Dates with the longest Continuous Decrease stock Prices streak:</a:t>
            </a:r>
            <a:endParaRPr lang="en-IN" b="1" dirty="0">
              <a:solidFill>
                <a:srgbClr val="FF0000"/>
              </a:solidFill>
              <a:latin typeface="Comic Sans MS" panose="030F0702030302020204" pitchFamily="66" charset="0"/>
            </a:endParaRPr>
          </a:p>
        </p:txBody>
      </p:sp>
      <p:pic>
        <p:nvPicPr>
          <p:cNvPr id="6" name="Content Placeholder 5">
            <a:extLst>
              <a:ext uri="{FF2B5EF4-FFF2-40B4-BE49-F238E27FC236}">
                <a16:creationId xmlns:a16="http://schemas.microsoft.com/office/drawing/2014/main" id="{468548FF-E67E-27BF-4146-0BA4918F3120}"/>
              </a:ext>
            </a:extLst>
          </p:cNvPr>
          <p:cNvPicPr>
            <a:picLocks noGrp="1" noChangeAspect="1"/>
          </p:cNvPicPr>
          <p:nvPr>
            <p:ph sz="half" idx="1"/>
          </p:nvPr>
        </p:nvPicPr>
        <p:blipFill>
          <a:blip r:embed="rId2"/>
          <a:stretch>
            <a:fillRect/>
          </a:stretch>
        </p:blipFill>
        <p:spPr>
          <a:xfrm>
            <a:off x="87086" y="1938843"/>
            <a:ext cx="5856514" cy="4494614"/>
          </a:xfrm>
        </p:spPr>
      </p:pic>
      <p:sp>
        <p:nvSpPr>
          <p:cNvPr id="4" name="Content Placeholder 3">
            <a:extLst>
              <a:ext uri="{FF2B5EF4-FFF2-40B4-BE49-F238E27FC236}">
                <a16:creationId xmlns:a16="http://schemas.microsoft.com/office/drawing/2014/main" id="{EED14DD5-4F8A-CDCE-1C49-C0A5B3354AB9}"/>
              </a:ext>
            </a:extLst>
          </p:cNvPr>
          <p:cNvSpPr>
            <a:spLocks noGrp="1"/>
          </p:cNvSpPr>
          <p:nvPr>
            <p:ph sz="half" idx="2"/>
          </p:nvPr>
        </p:nvSpPr>
        <p:spPr>
          <a:xfrm>
            <a:off x="6172200" y="1938842"/>
            <a:ext cx="5475514" cy="4494613"/>
          </a:xfrm>
        </p:spPr>
        <p:txBody>
          <a:bodyPr>
            <a:normAutofit/>
          </a:bodyPr>
          <a:lstStyle/>
          <a:p>
            <a:r>
              <a:rPr lang="en-US" b="1" dirty="0">
                <a:latin typeface="Comic Sans MS" panose="030F0702030302020204" pitchFamily="66" charset="0"/>
              </a:rPr>
              <a:t>Insight:</a:t>
            </a:r>
          </a:p>
          <a:p>
            <a:endParaRPr lang="en-US" dirty="0"/>
          </a:p>
          <a:p>
            <a:r>
              <a:rPr lang="en-US" sz="2400" b="1" dirty="0">
                <a:solidFill>
                  <a:srgbClr val="FF0000"/>
                </a:solidFill>
                <a:latin typeface="Comic Sans MS" panose="030F0702030302020204" pitchFamily="66" charset="0"/>
              </a:rPr>
              <a:t>The 11-day price fall in TCS stock (Oct 29–Nov 13, 2007) </a:t>
            </a:r>
            <a:r>
              <a:rPr lang="en-US" sz="2400" b="1" dirty="0">
                <a:latin typeface="Comic Sans MS" panose="030F0702030302020204" pitchFamily="66" charset="0"/>
              </a:rPr>
              <a:t>was driven by global market fears due to the subprime mortgage crisis, rupee appreciation hurting IT exporters, and widespread investor risk aversion.</a:t>
            </a:r>
            <a:endParaRPr lang="en-IN" sz="2400" b="1" dirty="0">
              <a:latin typeface="Comic Sans MS" panose="030F0702030302020204" pitchFamily="66" charset="0"/>
            </a:endParaRPr>
          </a:p>
        </p:txBody>
      </p:sp>
    </p:spTree>
    <p:extLst>
      <p:ext uri="{BB962C8B-B14F-4D97-AF65-F5344CB8AC3E}">
        <p14:creationId xmlns:p14="http://schemas.microsoft.com/office/powerpoint/2010/main" val="3223862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D802-ED60-4A86-26CD-860D794B6916}"/>
              </a:ext>
            </a:extLst>
          </p:cNvPr>
          <p:cNvSpPr>
            <a:spLocks noGrp="1"/>
          </p:cNvSpPr>
          <p:nvPr>
            <p:ph type="title"/>
          </p:nvPr>
        </p:nvSpPr>
        <p:spPr>
          <a:xfrm>
            <a:off x="138896" y="127322"/>
            <a:ext cx="12053103" cy="1759352"/>
          </a:xfrm>
        </p:spPr>
        <p:txBody>
          <a:bodyPr>
            <a:normAutofit fontScale="90000"/>
          </a:bodyPr>
          <a:lstStyle/>
          <a:p>
            <a:r>
              <a:rPr lang="en-US" sz="3200" b="1" dirty="0">
                <a:solidFill>
                  <a:srgbClr val="FF0000"/>
                </a:solidFill>
                <a:latin typeface="Comic Sans MS" panose="030F0702030302020204" pitchFamily="66" charset="0"/>
              </a:rPr>
              <a:t>Conclusion:</a:t>
            </a:r>
            <a:br>
              <a:rPr lang="en-US" sz="3200" b="1" dirty="0">
                <a:latin typeface="Comic Sans MS" panose="030F0702030302020204" pitchFamily="66" charset="0"/>
              </a:rPr>
            </a:br>
            <a:r>
              <a:rPr lang="en-US" sz="3200" dirty="0">
                <a:solidFill>
                  <a:srgbClr val="FFFF00"/>
                </a:solidFill>
              </a:rPr>
              <a:t>The analysis of Tata Consultancy Services (TCS) stock performance from </a:t>
            </a:r>
            <a:r>
              <a:rPr lang="en-US" sz="3200" b="1" dirty="0">
                <a:solidFill>
                  <a:srgbClr val="FFFF00"/>
                </a:solidFill>
              </a:rPr>
              <a:t>2002 to 2021</a:t>
            </a:r>
            <a:r>
              <a:rPr lang="en-US" sz="3200" dirty="0">
                <a:solidFill>
                  <a:srgbClr val="FFFF00"/>
                </a:solidFill>
              </a:rPr>
              <a:t> reveals a pattern of </a:t>
            </a:r>
            <a:r>
              <a:rPr lang="en-US" sz="3200" b="1" dirty="0">
                <a:solidFill>
                  <a:srgbClr val="FFFF00"/>
                </a:solidFill>
              </a:rPr>
              <a:t>sustained long-term growth, strong market confidence, and high resilience</a:t>
            </a:r>
            <a:r>
              <a:rPr lang="en-US" sz="3200" dirty="0">
                <a:solidFill>
                  <a:srgbClr val="FFFF00"/>
                </a:solidFill>
              </a:rPr>
              <a:t> despite periodic volatility.</a:t>
            </a:r>
            <a:endParaRPr lang="en-IN" sz="3200" b="1" dirty="0">
              <a:solidFill>
                <a:srgbClr val="FFFF00"/>
              </a:solidFill>
              <a:latin typeface="Comic Sans MS" panose="030F0702030302020204" pitchFamily="66" charset="0"/>
            </a:endParaRPr>
          </a:p>
        </p:txBody>
      </p:sp>
      <p:sp>
        <p:nvSpPr>
          <p:cNvPr id="3" name="Rectangle 1">
            <a:extLst>
              <a:ext uri="{FF2B5EF4-FFF2-40B4-BE49-F238E27FC236}">
                <a16:creationId xmlns:a16="http://schemas.microsoft.com/office/drawing/2014/main" id="{626422AD-EFBE-CD64-9634-53A5D1F1BC41}"/>
              </a:ext>
            </a:extLst>
          </p:cNvPr>
          <p:cNvSpPr>
            <a:spLocks noGrp="1" noChangeArrowheads="1"/>
          </p:cNvSpPr>
          <p:nvPr>
            <p:ph idx="1"/>
          </p:nvPr>
        </p:nvSpPr>
        <p:spPr bwMode="auto">
          <a:xfrm>
            <a:off x="138896" y="2259220"/>
            <a:ext cx="1195664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Consistent Upward Growth:</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rPr>
              <a:t>TCS’s stock price has shown a steady increase over two decades, with a marked acceleration after 2010. The upward trend in </a:t>
            </a:r>
            <a:r>
              <a:rPr kumimoji="0" lang="en-US" altLang="en-US" sz="2000" b="1" i="0" u="none" strike="noStrike" cap="none" normalizeH="0" baseline="0" dirty="0">
                <a:ln>
                  <a:noFill/>
                </a:ln>
                <a:solidFill>
                  <a:schemeClr val="tx1"/>
                </a:solidFill>
                <a:effectLst/>
              </a:rPr>
              <a:t>opening, closing, and highest prices</a:t>
            </a:r>
            <a:r>
              <a:rPr kumimoji="0" lang="en-US" altLang="en-US" sz="2000" b="0" i="0" u="none" strike="noStrike" cap="none" normalizeH="0" baseline="0" dirty="0">
                <a:ln>
                  <a:noFill/>
                </a:ln>
                <a:solidFill>
                  <a:schemeClr val="tx1"/>
                </a:solidFill>
                <a:effectLst/>
              </a:rPr>
              <a:t> indicates sustained investor confidence and strong financial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2021 Peak Performance: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rPr>
              <a:t>The stock reached its </a:t>
            </a:r>
            <a:r>
              <a:rPr kumimoji="0" lang="en-US" altLang="en-US" sz="2000" b="1" i="0" u="none" strike="noStrike" cap="none" normalizeH="0" baseline="0" dirty="0">
                <a:ln>
                  <a:noFill/>
                </a:ln>
                <a:solidFill>
                  <a:schemeClr val="tx1"/>
                </a:solidFill>
                <a:effectLst/>
              </a:rPr>
              <a:t>all-time high in 2021</a:t>
            </a:r>
            <a:r>
              <a:rPr kumimoji="0" lang="en-US" altLang="en-US" sz="2000" b="0" i="0" u="none" strike="noStrike" cap="none" normalizeH="0" baseline="0" dirty="0">
                <a:ln>
                  <a:noFill/>
                </a:ln>
                <a:solidFill>
                  <a:schemeClr val="tx1"/>
                </a:solidFill>
                <a:effectLst/>
              </a:rPr>
              <a:t>, driven by robust global demand for digital transformation, strong quarterly earnings, and renewed investor optimism post-pandemic.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Volatility Trends: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rPr>
              <a:t>TCS experienced periodic high volatility during major global events — the </a:t>
            </a:r>
            <a:r>
              <a:rPr kumimoji="0" lang="en-US" altLang="en-US" sz="2000" b="1" i="0" u="none" strike="noStrike" cap="none" normalizeH="0" baseline="0" dirty="0">
                <a:ln>
                  <a:noFill/>
                </a:ln>
                <a:solidFill>
                  <a:schemeClr val="tx1"/>
                </a:solidFill>
                <a:effectLst/>
              </a:rPr>
              <a:t>2008 financial crisis</a:t>
            </a:r>
            <a:r>
              <a:rPr kumimoji="0" lang="en-US" altLang="en-US" sz="2000" b="0" i="0" u="none" strike="noStrike" cap="none" normalizeH="0" baseline="0" dirty="0">
                <a:ln>
                  <a:noFill/>
                </a:ln>
                <a:solidFill>
                  <a:schemeClr val="tx1"/>
                </a:solidFill>
                <a:effectLst/>
              </a:rPr>
              <a:t> and the </a:t>
            </a:r>
            <a:r>
              <a:rPr kumimoji="0" lang="en-US" altLang="en-US" sz="2000" b="1" i="0" u="none" strike="noStrike" cap="none" normalizeH="0" baseline="0" dirty="0">
                <a:ln>
                  <a:noFill/>
                </a:ln>
                <a:solidFill>
                  <a:schemeClr val="tx1"/>
                </a:solidFill>
                <a:effectLst/>
              </a:rPr>
              <a:t>2020 COVID-19 market crash</a:t>
            </a:r>
            <a:r>
              <a:rPr kumimoji="0" lang="en-US" altLang="en-US" sz="2000" b="0" i="0" u="none" strike="noStrike" cap="none" normalizeH="0" baseline="0" dirty="0">
                <a:ln>
                  <a:noFill/>
                </a:ln>
                <a:solidFill>
                  <a:schemeClr val="tx1"/>
                </a:solidFill>
                <a:effectLst/>
              </a:rPr>
              <a:t> — but consistently rebounded quickly, reflecting </a:t>
            </a:r>
            <a:r>
              <a:rPr kumimoji="0" lang="en-US" altLang="en-US" sz="2000" b="1" i="0" u="none" strike="noStrike" cap="none" normalizeH="0" baseline="0" dirty="0">
                <a:ln>
                  <a:noFill/>
                </a:ln>
                <a:solidFill>
                  <a:schemeClr val="tx1"/>
                </a:solidFill>
                <a:effectLst/>
              </a:rPr>
              <a:t>market trust and strong fundamentals</a:t>
            </a:r>
            <a:r>
              <a:rPr kumimoji="0" lang="en-US" altLang="en-US" sz="20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1562790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2538-0B8E-4818-EA74-D53B0B9CE388}"/>
              </a:ext>
            </a:extLst>
          </p:cNvPr>
          <p:cNvSpPr>
            <a:spLocks noGrp="1"/>
          </p:cNvSpPr>
          <p:nvPr>
            <p:ph type="title"/>
          </p:nvPr>
        </p:nvSpPr>
        <p:spPr>
          <a:xfrm>
            <a:off x="115746" y="293736"/>
            <a:ext cx="11968223" cy="879676"/>
          </a:xfrm>
        </p:spPr>
        <p:txBody>
          <a:bodyPr/>
          <a:lstStyle/>
          <a:p>
            <a:r>
              <a:rPr lang="en-US" b="1" dirty="0">
                <a:solidFill>
                  <a:srgbClr val="FF0000"/>
                </a:solidFill>
              </a:rPr>
              <a:t>Conclusion</a:t>
            </a:r>
            <a:endParaRPr lang="en-IN" b="1" dirty="0">
              <a:solidFill>
                <a:srgbClr val="FF0000"/>
              </a:solidFill>
            </a:endParaRPr>
          </a:p>
        </p:txBody>
      </p:sp>
      <p:sp>
        <p:nvSpPr>
          <p:cNvPr id="4" name="Rectangle 1">
            <a:extLst>
              <a:ext uri="{FF2B5EF4-FFF2-40B4-BE49-F238E27FC236}">
                <a16:creationId xmlns:a16="http://schemas.microsoft.com/office/drawing/2014/main" id="{7EEF7D46-A9A8-AC67-1F6E-8789337A2E09}"/>
              </a:ext>
            </a:extLst>
          </p:cNvPr>
          <p:cNvSpPr>
            <a:spLocks noGrp="1" noChangeArrowheads="1"/>
          </p:cNvSpPr>
          <p:nvPr>
            <p:ph idx="1"/>
          </p:nvPr>
        </p:nvSpPr>
        <p:spPr bwMode="auto">
          <a:xfrm>
            <a:off x="115746" y="1507778"/>
            <a:ext cx="11852475"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Trading Volume Shifts: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rPr>
              <a:t>Trading activity peaked between </a:t>
            </a:r>
            <a:r>
              <a:rPr kumimoji="0" lang="en-US" altLang="en-US" sz="1800" b="1" i="0" u="none" strike="noStrike" cap="none" normalizeH="0" baseline="0" dirty="0">
                <a:ln>
                  <a:noFill/>
                </a:ln>
                <a:solidFill>
                  <a:schemeClr val="tx1"/>
                </a:solidFill>
                <a:effectLst/>
              </a:rPr>
              <a:t>2005–2008</a:t>
            </a:r>
            <a:r>
              <a:rPr kumimoji="0" lang="en-US" altLang="en-US" sz="1800" b="0" i="0" u="none" strike="noStrike" cap="none" normalizeH="0" baseline="0" dirty="0">
                <a:ln>
                  <a:noFill/>
                </a:ln>
                <a:solidFill>
                  <a:schemeClr val="tx1"/>
                </a:solidFill>
                <a:effectLst/>
              </a:rPr>
              <a:t> and again in </a:t>
            </a:r>
            <a:r>
              <a:rPr kumimoji="0" lang="en-US" altLang="en-US" sz="1800" b="1" i="0" u="none" strike="noStrike" cap="none" normalizeH="0" baseline="0" dirty="0">
                <a:ln>
                  <a:noFill/>
                </a:ln>
                <a:solidFill>
                  <a:schemeClr val="tx1"/>
                </a:solidFill>
                <a:effectLst/>
              </a:rPr>
              <a:t>2018–2019</a:t>
            </a:r>
            <a:r>
              <a:rPr kumimoji="0" lang="en-US" altLang="en-US" sz="1800" b="0" i="0" u="none" strike="noStrike" cap="none" normalizeH="0" baseline="0" dirty="0">
                <a:ln>
                  <a:noFill/>
                </a:ln>
                <a:solidFill>
                  <a:schemeClr val="tx1"/>
                </a:solidFill>
                <a:effectLst/>
              </a:rPr>
              <a:t>, showing that investor interest increases during major market movements and earnings cycles.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Dividend Growth:</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rPr>
              <a:t>Dividend payouts steadily increased from 2002 to 2019, peaking in 2019 with special payouts. This consistent distribution highlights </a:t>
            </a:r>
            <a:r>
              <a:rPr kumimoji="0" lang="en-US" altLang="en-US" sz="1800" b="1" i="0" u="none" strike="noStrike" cap="none" normalizeH="0" baseline="0" dirty="0">
                <a:ln>
                  <a:noFill/>
                </a:ln>
                <a:solidFill>
                  <a:schemeClr val="tx1"/>
                </a:solidFill>
                <a:effectLst/>
              </a:rPr>
              <a:t>profitability and shareholder-friendly policies.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Market Resilience: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rPr>
              <a:t>Despite fluctuations, TCS has maintained long-term stability, low debt, and steady profitability, reinforcing its image as a </a:t>
            </a:r>
            <a:r>
              <a:rPr kumimoji="0" lang="en-US" altLang="en-US" sz="1800" b="1" i="0" u="none" strike="noStrike" cap="none" normalizeH="0" baseline="0" dirty="0">
                <a:ln>
                  <a:noFill/>
                </a:ln>
                <a:solidFill>
                  <a:schemeClr val="tx1"/>
                </a:solidFill>
                <a:effectLst/>
              </a:rPr>
              <a:t>defensive and high-quality stock</a:t>
            </a:r>
            <a:r>
              <a:rPr kumimoji="0" lang="en-US" altLang="en-US" sz="1800" b="0" i="0" u="none" strike="noStrike" cap="none" normalizeH="0" baseline="0" dirty="0">
                <a:ln>
                  <a:noFill/>
                </a:ln>
                <a:solidFill>
                  <a:schemeClr val="tx1"/>
                </a:solidFill>
                <a:effectLst/>
              </a:rPr>
              <a:t> in India’s IT sector.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FF0000"/>
                </a:solidFill>
                <a:effectLst/>
                <a:latin typeface="Arial" panose="020B0604020202020204" pitchFamily="34" charset="0"/>
              </a:rPr>
              <a:t>Leadership and Sector Strength:</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rPr>
              <a:t>TCS’s performance mirrors the growth of the </a:t>
            </a:r>
            <a:r>
              <a:rPr kumimoji="0" lang="en-US" altLang="en-US" sz="1800" b="1" i="0" u="none" strike="noStrike" cap="none" normalizeH="0" baseline="0" dirty="0">
                <a:ln>
                  <a:noFill/>
                </a:ln>
                <a:solidFill>
                  <a:schemeClr val="tx1"/>
                </a:solidFill>
                <a:effectLst/>
              </a:rPr>
              <a:t>Indian IT industry</a:t>
            </a:r>
            <a:r>
              <a:rPr kumimoji="0" lang="en-US" altLang="en-US" sz="1800" b="0" i="0" u="none" strike="noStrike" cap="none" normalizeH="0" baseline="0" dirty="0">
                <a:ln>
                  <a:noFill/>
                </a:ln>
                <a:solidFill>
                  <a:schemeClr val="tx1"/>
                </a:solidFill>
                <a:effectLst/>
              </a:rPr>
              <a:t>, maintaining leadership through global expansion, strong client retention, and operational excellence.</a:t>
            </a:r>
          </a:p>
        </p:txBody>
      </p:sp>
    </p:spTree>
    <p:extLst>
      <p:ext uri="{BB962C8B-B14F-4D97-AF65-F5344CB8AC3E}">
        <p14:creationId xmlns:p14="http://schemas.microsoft.com/office/powerpoint/2010/main" val="1294308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683C-7951-DF74-E7F5-900E28CC39F1}"/>
              </a:ext>
            </a:extLst>
          </p:cNvPr>
          <p:cNvSpPr>
            <a:spLocks noGrp="1"/>
          </p:cNvSpPr>
          <p:nvPr>
            <p:ph type="title"/>
          </p:nvPr>
        </p:nvSpPr>
        <p:spPr>
          <a:xfrm>
            <a:off x="92596" y="121534"/>
            <a:ext cx="11933500" cy="630820"/>
          </a:xfrm>
        </p:spPr>
        <p:txBody>
          <a:bodyPr>
            <a:normAutofit fontScale="90000"/>
          </a:bodyPr>
          <a:lstStyle/>
          <a:p>
            <a:r>
              <a:rPr lang="en-US" b="1" dirty="0">
                <a:solidFill>
                  <a:srgbClr val="FF0000"/>
                </a:solidFill>
              </a:rPr>
              <a:t>Recommendations</a:t>
            </a:r>
            <a:endParaRPr lang="en-IN" b="1" dirty="0">
              <a:solidFill>
                <a:srgbClr val="FF0000"/>
              </a:solidFill>
            </a:endParaRPr>
          </a:p>
        </p:txBody>
      </p:sp>
      <p:sp>
        <p:nvSpPr>
          <p:cNvPr id="3" name="Content Placeholder 2">
            <a:extLst>
              <a:ext uri="{FF2B5EF4-FFF2-40B4-BE49-F238E27FC236}">
                <a16:creationId xmlns:a16="http://schemas.microsoft.com/office/drawing/2014/main" id="{FD18EFE4-C21D-C290-EE6C-4D303CCCC7E1}"/>
              </a:ext>
            </a:extLst>
          </p:cNvPr>
          <p:cNvSpPr>
            <a:spLocks noGrp="1"/>
          </p:cNvSpPr>
          <p:nvPr>
            <p:ph idx="1"/>
          </p:nvPr>
        </p:nvSpPr>
        <p:spPr>
          <a:xfrm>
            <a:off x="92596" y="1053296"/>
            <a:ext cx="11933500" cy="5683170"/>
          </a:xfrm>
        </p:spPr>
        <p:txBody>
          <a:bodyPr>
            <a:normAutofit fontScale="70000" lnSpcReduction="20000"/>
          </a:bodyPr>
          <a:lstStyle/>
          <a:p>
            <a:r>
              <a:rPr lang="en-US" b="1" dirty="0">
                <a:solidFill>
                  <a:srgbClr val="FF0000"/>
                </a:solidFill>
              </a:rPr>
              <a:t>1. Investment Perspective</a:t>
            </a:r>
          </a:p>
          <a:p>
            <a:r>
              <a:rPr lang="en-US" dirty="0"/>
              <a:t>TCS remains a </a:t>
            </a:r>
            <a:r>
              <a:rPr lang="en-US" b="1" dirty="0"/>
              <a:t>strong long-term investment</a:t>
            </a:r>
            <a:r>
              <a:rPr lang="en-US" dirty="0"/>
              <a:t> option for investors seeking stable returns and lower risk.</a:t>
            </a:r>
          </a:p>
          <a:p>
            <a:r>
              <a:rPr lang="en-US" dirty="0"/>
              <a:t>Encourage </a:t>
            </a:r>
            <a:r>
              <a:rPr lang="en-US" b="1" dirty="0"/>
              <a:t>systematic investment strategies (SIP)</a:t>
            </a:r>
            <a:r>
              <a:rPr lang="en-US" dirty="0"/>
              <a:t> in TCS to average out short-term market fluctuations.</a:t>
            </a:r>
          </a:p>
          <a:p>
            <a:endParaRPr lang="en-US" dirty="0"/>
          </a:p>
          <a:p>
            <a:r>
              <a:rPr lang="en-US" b="1" dirty="0">
                <a:solidFill>
                  <a:srgbClr val="FF0000"/>
                </a:solidFill>
              </a:rPr>
              <a:t>2. Risk and Volatility Management</a:t>
            </a:r>
          </a:p>
          <a:p>
            <a:r>
              <a:rPr lang="en-US" dirty="0"/>
              <a:t>Monitor </a:t>
            </a:r>
            <a:r>
              <a:rPr lang="en-US" b="1" dirty="0"/>
              <a:t>intraday volatility (3–5%)</a:t>
            </a:r>
            <a:r>
              <a:rPr lang="en-US" dirty="0"/>
              <a:t> closely during market downturns, as it often signals broader market sentiment shifts.</a:t>
            </a:r>
          </a:p>
          <a:p>
            <a:r>
              <a:rPr lang="en-US" dirty="0"/>
              <a:t>Short-term investors should apply </a:t>
            </a:r>
            <a:r>
              <a:rPr lang="en-US" b="1" dirty="0"/>
              <a:t>stop-loss mechanisms</a:t>
            </a:r>
            <a:r>
              <a:rPr lang="en-US" dirty="0"/>
              <a:t> during global uncertainty periods like 2008 and 2020.</a:t>
            </a:r>
          </a:p>
          <a:p>
            <a:endParaRPr lang="en-US" dirty="0"/>
          </a:p>
          <a:p>
            <a:r>
              <a:rPr lang="en-US" b="1" dirty="0">
                <a:solidFill>
                  <a:srgbClr val="FF0000"/>
                </a:solidFill>
              </a:rPr>
              <a:t>3. Dividend Strategy Optimization</a:t>
            </a:r>
          </a:p>
          <a:p>
            <a:r>
              <a:rPr lang="en-US" dirty="0"/>
              <a:t>Maintain or slightly increase dividend payouts in profitable years to sustain investor confidence.</a:t>
            </a:r>
          </a:p>
          <a:p>
            <a:r>
              <a:rPr lang="en-US" dirty="0"/>
              <a:t>Introduce </a:t>
            </a:r>
            <a:r>
              <a:rPr lang="en-US" b="1" dirty="0"/>
              <a:t>interim dividends or share buybacks</a:t>
            </a:r>
            <a:r>
              <a:rPr lang="en-US" dirty="0"/>
              <a:t> to reward long-term shareholders.</a:t>
            </a:r>
          </a:p>
          <a:p>
            <a:endParaRPr lang="en-US" dirty="0"/>
          </a:p>
          <a:p>
            <a:r>
              <a:rPr lang="en-US" b="1" dirty="0">
                <a:solidFill>
                  <a:srgbClr val="FF0000"/>
                </a:solidFill>
              </a:rPr>
              <a:t>4. Investor Communication</a:t>
            </a:r>
          </a:p>
          <a:p>
            <a:r>
              <a:rPr lang="en-US" dirty="0"/>
              <a:t>Continue transparent reporting of quarterly earnings and sustainability initiatives to reinforce investor trust.</a:t>
            </a:r>
          </a:p>
          <a:p>
            <a:r>
              <a:rPr lang="en-US" dirty="0"/>
              <a:t>Highlight achievements in global digital transformation projects, AI, and automation — key drivers for future valuation growth.</a:t>
            </a:r>
          </a:p>
          <a:p>
            <a:endParaRPr lang="en-IN" dirty="0"/>
          </a:p>
        </p:txBody>
      </p:sp>
    </p:spTree>
    <p:extLst>
      <p:ext uri="{BB962C8B-B14F-4D97-AF65-F5344CB8AC3E}">
        <p14:creationId xmlns:p14="http://schemas.microsoft.com/office/powerpoint/2010/main" val="3554956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02CB2-D059-DA8D-BE42-CEC9A6B18E75}"/>
              </a:ext>
            </a:extLst>
          </p:cNvPr>
          <p:cNvSpPr>
            <a:spLocks noGrp="1"/>
          </p:cNvSpPr>
          <p:nvPr>
            <p:ph type="title"/>
          </p:nvPr>
        </p:nvSpPr>
        <p:spPr>
          <a:xfrm>
            <a:off x="196769" y="127321"/>
            <a:ext cx="11806177" cy="763929"/>
          </a:xfrm>
        </p:spPr>
        <p:txBody>
          <a:bodyPr/>
          <a:lstStyle/>
          <a:p>
            <a:r>
              <a:rPr lang="en-US" b="1" dirty="0">
                <a:solidFill>
                  <a:srgbClr val="FF0000"/>
                </a:solidFill>
              </a:rPr>
              <a:t>Recommendations</a:t>
            </a:r>
            <a:endParaRPr lang="en-IN" dirty="0"/>
          </a:p>
        </p:txBody>
      </p:sp>
      <p:sp>
        <p:nvSpPr>
          <p:cNvPr id="3" name="Content Placeholder 2">
            <a:extLst>
              <a:ext uri="{FF2B5EF4-FFF2-40B4-BE49-F238E27FC236}">
                <a16:creationId xmlns:a16="http://schemas.microsoft.com/office/drawing/2014/main" id="{F3539788-6B97-FAC2-6694-71323C251CE8}"/>
              </a:ext>
            </a:extLst>
          </p:cNvPr>
          <p:cNvSpPr>
            <a:spLocks noGrp="1"/>
          </p:cNvSpPr>
          <p:nvPr>
            <p:ph idx="1"/>
          </p:nvPr>
        </p:nvSpPr>
        <p:spPr>
          <a:xfrm>
            <a:off x="0" y="1145894"/>
            <a:ext cx="12002945" cy="5584785"/>
          </a:xfrm>
        </p:spPr>
        <p:txBody>
          <a:bodyPr>
            <a:normAutofit fontScale="85000" lnSpcReduction="20000"/>
          </a:bodyPr>
          <a:lstStyle/>
          <a:p>
            <a:r>
              <a:rPr lang="en-US" b="1" dirty="0">
                <a:solidFill>
                  <a:srgbClr val="FF0000"/>
                </a:solidFill>
              </a:rPr>
              <a:t>5. Sector and Market Positioning</a:t>
            </a:r>
          </a:p>
          <a:p>
            <a:r>
              <a:rPr lang="en-US" dirty="0"/>
              <a:t>Leverage the growing demand for IT services in cloud computing, AI, and cybersecurity to sustain growth momentum.</a:t>
            </a:r>
          </a:p>
          <a:p>
            <a:r>
              <a:rPr lang="en-US" dirty="0"/>
              <a:t>Continue diversification across international markets to hedge against domestic economic fluctuations.</a:t>
            </a:r>
          </a:p>
          <a:p>
            <a:endParaRPr lang="en-US" dirty="0"/>
          </a:p>
          <a:p>
            <a:r>
              <a:rPr lang="en-US" b="1" dirty="0">
                <a:solidFill>
                  <a:srgbClr val="FF0000"/>
                </a:solidFill>
              </a:rPr>
              <a:t>6. Future Forecasting and Monitoring</a:t>
            </a:r>
          </a:p>
          <a:p>
            <a:r>
              <a:rPr lang="en-US" dirty="0"/>
              <a:t>Regularly track </a:t>
            </a:r>
            <a:r>
              <a:rPr lang="en-US" b="1" dirty="0"/>
              <a:t>year-over-year revenue growth</a:t>
            </a:r>
            <a:r>
              <a:rPr lang="en-US" dirty="0"/>
              <a:t> and </a:t>
            </a:r>
            <a:r>
              <a:rPr lang="en-US" b="1" dirty="0"/>
              <a:t>EPS trends</a:t>
            </a:r>
            <a:r>
              <a:rPr lang="en-US" dirty="0"/>
              <a:t> to assess fundamental strength.</a:t>
            </a:r>
          </a:p>
          <a:p>
            <a:r>
              <a:rPr lang="en-US" dirty="0"/>
              <a:t>Use predictive analytics models to forecast </a:t>
            </a:r>
            <a:r>
              <a:rPr lang="en-US" b="1" dirty="0"/>
              <a:t>stock price movement</a:t>
            </a:r>
            <a:r>
              <a:rPr lang="en-US" dirty="0"/>
              <a:t> based on macroeconomic indicators and tech sector performance.</a:t>
            </a:r>
          </a:p>
          <a:p>
            <a:endParaRPr lang="en-US" dirty="0"/>
          </a:p>
          <a:p>
            <a:r>
              <a:rPr lang="en-US" b="1" dirty="0">
                <a:solidFill>
                  <a:srgbClr val="FF0000"/>
                </a:solidFill>
              </a:rPr>
              <a:t>7. Strategic Insight for Stakeholders</a:t>
            </a:r>
          </a:p>
          <a:p>
            <a:r>
              <a:rPr lang="en-US" dirty="0"/>
              <a:t>Portfolio managers and retail investors should treat TCS as a </a:t>
            </a:r>
            <a:r>
              <a:rPr lang="en-US" b="1" dirty="0"/>
              <a:t>core holding</a:t>
            </a:r>
            <a:r>
              <a:rPr lang="en-US" dirty="0"/>
              <a:t> for stable, long-term capital appreciation.</a:t>
            </a:r>
          </a:p>
          <a:p>
            <a:r>
              <a:rPr lang="en-US" dirty="0"/>
              <a:t>Short-term traders can capitalize on volatility during earnings seasons or sector-wide rallies.</a:t>
            </a:r>
          </a:p>
          <a:p>
            <a:endParaRPr lang="en-IN" dirty="0"/>
          </a:p>
        </p:txBody>
      </p:sp>
    </p:spTree>
    <p:extLst>
      <p:ext uri="{BB962C8B-B14F-4D97-AF65-F5344CB8AC3E}">
        <p14:creationId xmlns:p14="http://schemas.microsoft.com/office/powerpoint/2010/main" val="3251109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4067E-0F48-02FA-E30A-8907C480EE53}"/>
              </a:ext>
            </a:extLst>
          </p:cNvPr>
          <p:cNvSpPr>
            <a:spLocks noGrp="1"/>
          </p:cNvSpPr>
          <p:nvPr>
            <p:ph type="title"/>
          </p:nvPr>
        </p:nvSpPr>
        <p:spPr>
          <a:xfrm>
            <a:off x="444661" y="318827"/>
            <a:ext cx="10515600" cy="1325563"/>
          </a:xfrm>
        </p:spPr>
        <p:txBody>
          <a:bodyPr/>
          <a:lstStyle/>
          <a:p>
            <a:r>
              <a:rPr lang="en-US" b="1" dirty="0">
                <a:solidFill>
                  <a:srgbClr val="FF0000"/>
                </a:solidFill>
              </a:rPr>
              <a:t>Summary Insight:</a:t>
            </a:r>
            <a:endParaRPr lang="en-IN" b="1" dirty="0">
              <a:solidFill>
                <a:srgbClr val="FF0000"/>
              </a:solidFill>
            </a:endParaRPr>
          </a:p>
        </p:txBody>
      </p:sp>
      <p:sp>
        <p:nvSpPr>
          <p:cNvPr id="3" name="Content Placeholder 2">
            <a:extLst>
              <a:ext uri="{FF2B5EF4-FFF2-40B4-BE49-F238E27FC236}">
                <a16:creationId xmlns:a16="http://schemas.microsoft.com/office/drawing/2014/main" id="{C4702D34-AF0F-2E6D-C92D-D3B8FAD14B16}"/>
              </a:ext>
            </a:extLst>
          </p:cNvPr>
          <p:cNvSpPr>
            <a:spLocks noGrp="1"/>
          </p:cNvSpPr>
          <p:nvPr>
            <p:ph idx="1"/>
          </p:nvPr>
        </p:nvSpPr>
        <p:spPr>
          <a:xfrm>
            <a:off x="243068" y="2010820"/>
            <a:ext cx="11806178" cy="4351338"/>
          </a:xfrm>
        </p:spPr>
        <p:txBody>
          <a:bodyPr/>
          <a:lstStyle/>
          <a:p>
            <a:r>
              <a:rPr lang="en-US" dirty="0">
                <a:solidFill>
                  <a:srgbClr val="FFFF00"/>
                </a:solidFill>
              </a:rPr>
              <a:t>TCS’s long-term performance underscores its </a:t>
            </a:r>
            <a:r>
              <a:rPr lang="en-US" b="1" dirty="0">
                <a:solidFill>
                  <a:srgbClr val="FFFF00"/>
                </a:solidFill>
              </a:rPr>
              <a:t>financial strength, operational excellence, and market leadership</a:t>
            </a:r>
            <a:r>
              <a:rPr lang="en-US" dirty="0">
                <a:solidFill>
                  <a:srgbClr val="FFFF00"/>
                </a:solidFill>
              </a:rPr>
              <a:t>. Despite short-term volatility, it continues to deliver </a:t>
            </a:r>
            <a:r>
              <a:rPr lang="en-US" b="1" dirty="0">
                <a:solidFill>
                  <a:srgbClr val="FFFF00"/>
                </a:solidFill>
              </a:rPr>
              <a:t>consistent shareholder value</a:t>
            </a:r>
            <a:r>
              <a:rPr lang="en-US" dirty="0">
                <a:solidFill>
                  <a:srgbClr val="FFFF00"/>
                </a:solidFill>
              </a:rPr>
              <a:t>.</a:t>
            </a:r>
            <a:br>
              <a:rPr lang="en-US" dirty="0">
                <a:solidFill>
                  <a:srgbClr val="FFFF00"/>
                </a:solidFill>
              </a:rPr>
            </a:br>
            <a:r>
              <a:rPr lang="en-US" dirty="0">
                <a:solidFill>
                  <a:srgbClr val="FFFF00"/>
                </a:solidFill>
              </a:rPr>
              <a:t>As the IT industry accelerates toward digital transformation, TCS stands </a:t>
            </a:r>
            <a:r>
              <a:rPr lang="en-US" b="1" dirty="0">
                <a:solidFill>
                  <a:srgbClr val="FFFF00"/>
                </a:solidFill>
              </a:rPr>
              <a:t>well-positioned for sustainable growth</a:t>
            </a:r>
            <a:r>
              <a:rPr lang="en-US" dirty="0">
                <a:solidFill>
                  <a:srgbClr val="FFFF00"/>
                </a:solidFill>
              </a:rPr>
              <a:t> in the coming decade.</a:t>
            </a:r>
            <a:endParaRPr lang="en-IN" dirty="0">
              <a:solidFill>
                <a:srgbClr val="FFFF00"/>
              </a:solidFill>
            </a:endParaRPr>
          </a:p>
        </p:txBody>
      </p:sp>
    </p:spTree>
    <p:extLst>
      <p:ext uri="{BB962C8B-B14F-4D97-AF65-F5344CB8AC3E}">
        <p14:creationId xmlns:p14="http://schemas.microsoft.com/office/powerpoint/2010/main" val="7621745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618</TotalTime>
  <Words>3192</Words>
  <Application>Microsoft Office PowerPoint</Application>
  <PresentationFormat>Widescreen</PresentationFormat>
  <Paragraphs>281</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Comic Sans MS</vt:lpstr>
      <vt:lpstr>Office Theme</vt:lpstr>
      <vt:lpstr>TCS Stock Prices Analysis</vt:lpstr>
      <vt:lpstr>INTODUCTION</vt:lpstr>
      <vt:lpstr>DATASET OVERVIEW:</vt:lpstr>
      <vt:lpstr>📌 Data Preprocessing Steps</vt:lpstr>
      <vt:lpstr>EDA (Exploratory Data Analysis)</vt:lpstr>
      <vt:lpstr>1. Average Opening Price of TCS Stock Over Years:</vt:lpstr>
      <vt:lpstr>1.2.Maximum Opening Price of TCS Stock Over Years</vt:lpstr>
      <vt:lpstr>1.3.Minimum Opening Price of TCS Stock Over Years'</vt:lpstr>
      <vt:lpstr>2.Highest Reached Price of TCS Stock Over Years</vt:lpstr>
      <vt:lpstr>3.Lowest Reached Price of TCS Stock Over Years</vt:lpstr>
      <vt:lpstr> 4.Closing Average Price of TCS Stock Over Years</vt:lpstr>
      <vt:lpstr> 4.2.Closing maximum Price of TCS Stock Over Years</vt:lpstr>
      <vt:lpstr>4.3Minimum Closing price of TCS  Stocks over years: </vt:lpstr>
      <vt:lpstr>5. .Distribution of Volume of TCS Stocks over Years: </vt:lpstr>
      <vt:lpstr>5.2 Maximum Volume traded per year </vt:lpstr>
      <vt:lpstr>6.Dividend Distribution in TCS STOCK </vt:lpstr>
      <vt:lpstr>6.1 Maximum Dividends Paid by the TCS Stock Over Years</vt:lpstr>
      <vt:lpstr> 7.Distribution of TCS Stock Split over years </vt:lpstr>
      <vt:lpstr>8.  Stock Prices Trend Distribution. </vt:lpstr>
      <vt:lpstr>9.Insight:</vt:lpstr>
      <vt:lpstr>10.No Movement day:</vt:lpstr>
      <vt:lpstr>11.Top 5 Dates when Stock Was Most Volatile </vt:lpstr>
      <vt:lpstr>12. Close Change</vt:lpstr>
      <vt:lpstr>12.1 Highest Close Change Per Year:</vt:lpstr>
      <vt:lpstr>12.2 TOP 5 DATES WHEN CLOSE CHANGE WAS LOWEST</vt:lpstr>
      <vt:lpstr>13. Average price of Stocks:</vt:lpstr>
      <vt:lpstr>13.1 Top 5 DAY with highest average price of stocks</vt:lpstr>
      <vt:lpstr>13.2 Top 5 DAYS With Lowest Average Stock Prices</vt:lpstr>
      <vt:lpstr>14. Intraday Volatility</vt:lpstr>
      <vt:lpstr>15.Return Percentage</vt:lpstr>
      <vt:lpstr>16 Dates with continuous Increasing stock prices streaks.</vt:lpstr>
      <vt:lpstr>17.Dates with the longest Continuous Decrease stock Prices streak:</vt:lpstr>
      <vt:lpstr>Conclusion: The analysis of Tata Consultancy Services (TCS) stock performance from 2002 to 2021 reveals a pattern of sustained long-term growth, strong market confidence, and high resilience despite periodic volatility.</vt:lpstr>
      <vt:lpstr>Conclusion</vt:lpstr>
      <vt:lpstr>Recommendations</vt:lpstr>
      <vt:lpstr>Recommendations</vt:lpstr>
      <vt:lpstr>Summary Insight: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Kumar</dc:creator>
  <cp:lastModifiedBy>Sahil Kumar</cp:lastModifiedBy>
  <cp:revision>9</cp:revision>
  <dcterms:created xsi:type="dcterms:W3CDTF">2025-07-18T09:09:35Z</dcterms:created>
  <dcterms:modified xsi:type="dcterms:W3CDTF">2025-11-02T05:42:10Z</dcterms:modified>
</cp:coreProperties>
</file>